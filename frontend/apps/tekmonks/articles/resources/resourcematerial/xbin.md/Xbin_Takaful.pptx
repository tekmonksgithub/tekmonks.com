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12192000" cy="6858000"/>
  <p:embeddedFontLst>
    <p:embeddedFont>
      <p:font typeface="Montserrat"/>
      <p:regular r:id="rId15"/>
      <p:bold r:id="rId16"/>
      <p:italic r:id="rId17"/>
      <p:boldItalic r:id="rId18"/>
    </p:embeddedFont>
    <p:embeddedFont>
      <p:font typeface="Montserrat Black"/>
      <p:bold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21" roundtripDataSignature="AMtx7mjetpB9Il/4yw7qDy0Q8zluyZVhe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lack-boldItalic.fntdata"/><Relationship Id="rId11" Type="http://schemas.openxmlformats.org/officeDocument/2006/relationships/slide" Target="slides/slide6.xml"/><Relationship Id="rId10" Type="http://schemas.openxmlformats.org/officeDocument/2006/relationships/slide" Target="slides/slide5.xml"/><Relationship Id="rId21" Type="http://customschemas.google.com/relationships/presentationmetadata" Target="meta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Montserrat-regular.fntdata"/><Relationship Id="rId14" Type="http://schemas.openxmlformats.org/officeDocument/2006/relationships/slide" Target="slides/slide9.xml"/><Relationship Id="rId17" Type="http://schemas.openxmlformats.org/officeDocument/2006/relationships/font" Target="fonts/Montserrat-italic.fntdata"/><Relationship Id="rId16" Type="http://schemas.openxmlformats.org/officeDocument/2006/relationships/font" Target="fonts/Montserrat-bold.fntdata"/><Relationship Id="rId5" Type="http://schemas.openxmlformats.org/officeDocument/2006/relationships/notesMaster" Target="notesMasters/notesMaster1.xml"/><Relationship Id="rId19" Type="http://schemas.openxmlformats.org/officeDocument/2006/relationships/font" Target="fonts/MontserratBlack-bold.fntdata"/><Relationship Id="rId6" Type="http://schemas.openxmlformats.org/officeDocument/2006/relationships/slide" Target="slides/slide1.xml"/><Relationship Id="rId18" Type="http://schemas.openxmlformats.org/officeDocument/2006/relationships/font" Target="fonts/Montserrat-bold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2032400" y="514350"/>
            <a:ext cx="81284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 name="Shape 39"/>
        <p:cNvGrpSpPr/>
        <p:nvPr/>
      </p:nvGrpSpPr>
      <p:grpSpPr>
        <a:xfrm>
          <a:off x="0" y="0"/>
          <a:ext cx="0" cy="0"/>
          <a:chOff x="0" y="0"/>
          <a:chExt cx="0" cy="0"/>
        </a:xfrm>
      </p:grpSpPr>
      <p:sp>
        <p:nvSpPr>
          <p:cNvPr id="40" name="Google Shape;40;p1: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 name="Google Shape;41;p1: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7: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3" name="Google Shape;53;p17: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18: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3" name="Google Shape;63;p18: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9: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4" name="Google Shape;74;p19: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 name="Google Shape;85;p20: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4: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p4: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6" name="Google Shape;106;p5: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22: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8" name="Google Shape;128;p22: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0:notes"/>
          <p:cNvSpPr txBox="1"/>
          <p:nvPr>
            <p:ph idx="1" type="body"/>
          </p:nvPr>
        </p:nvSpPr>
        <p:spPr>
          <a:xfrm>
            <a:off x="1219200" y="3257550"/>
            <a:ext cx="9753600" cy="3086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10:notes"/>
          <p:cNvSpPr/>
          <p:nvPr>
            <p:ph idx="2" type="sldImg"/>
          </p:nvPr>
        </p:nvSpPr>
        <p:spPr>
          <a:xfrm>
            <a:off x="3810000" y="514350"/>
            <a:ext cx="4573588"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1" name="Shape 11"/>
        <p:cNvGrpSpPr/>
        <p:nvPr/>
      </p:nvGrpSpPr>
      <p:grpSpPr>
        <a:xfrm>
          <a:off x="0" y="0"/>
          <a:ext cx="0" cy="0"/>
          <a:chOff x="0" y="0"/>
          <a:chExt cx="0" cy="0"/>
        </a:xfrm>
      </p:grpSpPr>
      <p:sp>
        <p:nvSpPr>
          <p:cNvPr id="12" name="Google Shape;12;p12"/>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2"/>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12"/>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5" name="Shape 15"/>
        <p:cNvGrpSpPr/>
        <p:nvPr/>
      </p:nvGrpSpPr>
      <p:grpSpPr>
        <a:xfrm>
          <a:off x="0" y="0"/>
          <a:ext cx="0" cy="0"/>
          <a:chOff x="0" y="0"/>
          <a:chExt cx="0" cy="0"/>
        </a:xfrm>
      </p:grpSpPr>
      <p:sp>
        <p:nvSpPr>
          <p:cNvPr id="16" name="Google Shape;16;p13"/>
          <p:cNvSpPr txBox="1"/>
          <p:nvPr>
            <p:ph type="ctrTitle"/>
          </p:nvPr>
        </p:nvSpPr>
        <p:spPr>
          <a:xfrm>
            <a:off x="914400" y="2125980"/>
            <a:ext cx="10363200" cy="14401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3"/>
          <p:cNvSpPr txBox="1"/>
          <p:nvPr>
            <p:ph idx="1" type="subTitle"/>
          </p:nvPr>
        </p:nvSpPr>
        <p:spPr>
          <a:xfrm>
            <a:off x="1828800" y="3840480"/>
            <a:ext cx="8534400" cy="17145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3"/>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3"/>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3"/>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21" name="Shape 21"/>
        <p:cNvGrpSpPr/>
        <p:nvPr/>
      </p:nvGrpSpPr>
      <p:grpSpPr>
        <a:xfrm>
          <a:off x="0" y="0"/>
          <a:ext cx="0" cy="0"/>
          <a:chOff x="0" y="0"/>
          <a:chExt cx="0" cy="0"/>
        </a:xfrm>
      </p:grpSpPr>
      <p:sp>
        <p:nvSpPr>
          <p:cNvPr id="22" name="Google Shape;22;p14"/>
          <p:cNvSpPr txBox="1"/>
          <p:nvPr>
            <p:ph type="title"/>
          </p:nvPr>
        </p:nvSpPr>
        <p:spPr>
          <a:xfrm>
            <a:off x="609600" y="274320"/>
            <a:ext cx="10972800" cy="10972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4"/>
          <p:cNvSpPr txBox="1"/>
          <p:nvPr>
            <p:ph idx="1" type="body"/>
          </p:nvPr>
        </p:nvSpPr>
        <p:spPr>
          <a:xfrm>
            <a:off x="609600" y="1577340"/>
            <a:ext cx="1097280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4" name="Google Shape;24;p14"/>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4"/>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4"/>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7" name="Shape 27"/>
        <p:cNvGrpSpPr/>
        <p:nvPr/>
      </p:nvGrpSpPr>
      <p:grpSpPr>
        <a:xfrm>
          <a:off x="0" y="0"/>
          <a:ext cx="0" cy="0"/>
          <a:chOff x="0" y="0"/>
          <a:chExt cx="0" cy="0"/>
        </a:xfrm>
      </p:grpSpPr>
      <p:sp>
        <p:nvSpPr>
          <p:cNvPr id="28" name="Google Shape;28;p15"/>
          <p:cNvSpPr txBox="1"/>
          <p:nvPr>
            <p:ph type="title"/>
          </p:nvPr>
        </p:nvSpPr>
        <p:spPr>
          <a:xfrm>
            <a:off x="609600" y="274320"/>
            <a:ext cx="10972800" cy="10972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5"/>
          <p:cNvSpPr txBox="1"/>
          <p:nvPr>
            <p:ph idx="1" type="body"/>
          </p:nvPr>
        </p:nvSpPr>
        <p:spPr>
          <a:xfrm>
            <a:off x="60960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0" name="Google Shape;30;p15"/>
          <p:cNvSpPr txBox="1"/>
          <p:nvPr>
            <p:ph idx="2" type="body"/>
          </p:nvPr>
        </p:nvSpPr>
        <p:spPr>
          <a:xfrm>
            <a:off x="6278880" y="1577340"/>
            <a:ext cx="5303520" cy="452628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1" name="Google Shape;31;p15"/>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5"/>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5"/>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4" name="Shape 34"/>
        <p:cNvGrpSpPr/>
        <p:nvPr/>
      </p:nvGrpSpPr>
      <p:grpSpPr>
        <a:xfrm>
          <a:off x="0" y="0"/>
          <a:ext cx="0" cy="0"/>
          <a:chOff x="0" y="0"/>
          <a:chExt cx="0" cy="0"/>
        </a:xfrm>
      </p:grpSpPr>
      <p:sp>
        <p:nvSpPr>
          <p:cNvPr id="35" name="Google Shape;35;p16"/>
          <p:cNvSpPr txBox="1"/>
          <p:nvPr>
            <p:ph type="title"/>
          </p:nvPr>
        </p:nvSpPr>
        <p:spPr>
          <a:xfrm>
            <a:off x="609600" y="274320"/>
            <a:ext cx="10972800" cy="109728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6"/>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6"/>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6"/>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1"/>
          <p:cNvSpPr txBox="1"/>
          <p:nvPr>
            <p:ph type="title"/>
          </p:nvPr>
        </p:nvSpPr>
        <p:spPr>
          <a:xfrm>
            <a:off x="609600" y="274320"/>
            <a:ext cx="10972800" cy="109728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1"/>
          <p:cNvSpPr txBox="1"/>
          <p:nvPr>
            <p:ph idx="1" type="body"/>
          </p:nvPr>
        </p:nvSpPr>
        <p:spPr>
          <a:xfrm>
            <a:off x="609600" y="1577340"/>
            <a:ext cx="10972800" cy="452628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8" name="Google Shape;8;p11"/>
          <p:cNvSpPr txBox="1"/>
          <p:nvPr>
            <p:ph idx="11" type="ftr"/>
          </p:nvPr>
        </p:nvSpPr>
        <p:spPr>
          <a:xfrm>
            <a:off x="4145280" y="6377940"/>
            <a:ext cx="3901440" cy="34290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 name="Google Shape;9;p11"/>
          <p:cNvSpPr txBox="1"/>
          <p:nvPr>
            <p:ph idx="10" type="dt"/>
          </p:nvPr>
        </p:nvSpPr>
        <p:spPr>
          <a:xfrm>
            <a:off x="609600" y="6377940"/>
            <a:ext cx="2804160" cy="34290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 name="Google Shape;10;p11"/>
          <p:cNvSpPr txBox="1"/>
          <p:nvPr>
            <p:ph idx="12" type="sldNum"/>
          </p:nvPr>
        </p:nvSpPr>
        <p:spPr>
          <a:xfrm>
            <a:off x="8778240" y="6377940"/>
            <a:ext cx="2804160" cy="34290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 name="Shape 42"/>
        <p:cNvGrpSpPr/>
        <p:nvPr/>
      </p:nvGrpSpPr>
      <p:grpSpPr>
        <a:xfrm>
          <a:off x="0" y="0"/>
          <a:ext cx="0" cy="0"/>
          <a:chOff x="0" y="0"/>
          <a:chExt cx="0" cy="0"/>
        </a:xfrm>
      </p:grpSpPr>
      <p:sp>
        <p:nvSpPr>
          <p:cNvPr id="43" name="Google Shape;43;p1"/>
          <p:cNvSpPr/>
          <p:nvPr/>
        </p:nvSpPr>
        <p:spPr>
          <a:xfrm>
            <a:off x="6093634" y="5249457"/>
            <a:ext cx="3047890" cy="3047890"/>
          </a:xfrm>
          <a:prstGeom prst="ellipse">
            <a:avLst/>
          </a:prstGeom>
          <a:solidFill>
            <a:srgbClr val="8BC53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4" name="Google Shape;44;p1"/>
          <p:cNvSpPr/>
          <p:nvPr/>
        </p:nvSpPr>
        <p:spPr>
          <a:xfrm>
            <a:off x="10026856" y="1637137"/>
            <a:ext cx="3047890" cy="3047890"/>
          </a:xfrm>
          <a:prstGeom prst="ellipse">
            <a:avLst/>
          </a:prstGeom>
          <a:solidFill>
            <a:srgbClr val="8BC53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5" name="Google Shape;45;p1"/>
          <p:cNvSpPr/>
          <p:nvPr/>
        </p:nvSpPr>
        <p:spPr>
          <a:xfrm>
            <a:off x="8305003" y="3344402"/>
            <a:ext cx="4381816" cy="4381816"/>
          </a:xfrm>
          <a:prstGeom prst="ellipse">
            <a:avLst/>
          </a:prstGeom>
          <a:gradFill>
            <a:gsLst>
              <a:gs pos="0">
                <a:srgbClr val="51AB2A"/>
              </a:gs>
              <a:gs pos="100000">
                <a:srgbClr val="203E13"/>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46" name="Google Shape;46;p1"/>
          <p:cNvSpPr txBox="1"/>
          <p:nvPr/>
        </p:nvSpPr>
        <p:spPr>
          <a:xfrm>
            <a:off x="571850" y="5288181"/>
            <a:ext cx="4784100" cy="11082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6600" u="none" cap="none" strike="noStrike">
                <a:solidFill>
                  <a:srgbClr val="005B26"/>
                </a:solidFill>
                <a:latin typeface="Montserrat"/>
                <a:ea typeface="Montserrat"/>
                <a:cs typeface="Montserrat"/>
                <a:sym typeface="Montserrat"/>
              </a:rPr>
              <a:t>USE CASE</a:t>
            </a:r>
            <a:endParaRPr>
              <a:solidFill>
                <a:srgbClr val="005B26"/>
              </a:solidFill>
            </a:endParaRPr>
          </a:p>
        </p:txBody>
      </p:sp>
      <p:sp>
        <p:nvSpPr>
          <p:cNvPr id="47" name="Google Shape;47;p1"/>
          <p:cNvSpPr txBox="1"/>
          <p:nvPr/>
        </p:nvSpPr>
        <p:spPr>
          <a:xfrm>
            <a:off x="5525846" y="3904514"/>
            <a:ext cx="3181823" cy="52322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2800" u="none" cap="none" strike="noStrike">
                <a:solidFill>
                  <a:srgbClr val="38761D"/>
                </a:solidFill>
                <a:latin typeface="Montserrat"/>
                <a:ea typeface="Montserrat"/>
                <a:cs typeface="Montserrat"/>
                <a:sym typeface="Montserrat"/>
              </a:rPr>
              <a:t>XBIN</a:t>
            </a:r>
            <a:endParaRPr>
              <a:solidFill>
                <a:srgbClr val="38761D"/>
              </a:solidFill>
            </a:endParaRPr>
          </a:p>
        </p:txBody>
      </p:sp>
      <p:pic>
        <p:nvPicPr>
          <p:cNvPr id="48" name="Google Shape;48;p1"/>
          <p:cNvPicPr preferRelativeResize="0"/>
          <p:nvPr/>
        </p:nvPicPr>
        <p:blipFill rotWithShape="1">
          <a:blip r:embed="rId3">
            <a:alphaModFix/>
          </a:blip>
          <a:srcRect b="18447" l="24112" r="23265" t="26359"/>
          <a:stretch/>
        </p:blipFill>
        <p:spPr>
          <a:xfrm>
            <a:off x="5312346" y="381055"/>
            <a:ext cx="3608825" cy="3785069"/>
          </a:xfrm>
          <a:prstGeom prst="rect">
            <a:avLst/>
          </a:prstGeom>
          <a:noFill/>
          <a:ln>
            <a:noFill/>
          </a:ln>
        </p:spPr>
      </p:pic>
      <p:pic>
        <p:nvPicPr>
          <p:cNvPr id="49" name="Google Shape;49;p1"/>
          <p:cNvPicPr preferRelativeResize="0"/>
          <p:nvPr/>
        </p:nvPicPr>
        <p:blipFill rotWithShape="1">
          <a:blip r:embed="rId4">
            <a:alphaModFix/>
          </a:blip>
          <a:srcRect b="0" l="17268" r="0" t="-15054"/>
          <a:stretch/>
        </p:blipFill>
        <p:spPr>
          <a:xfrm>
            <a:off x="684668" y="3623355"/>
            <a:ext cx="3980251" cy="857158"/>
          </a:xfrm>
          <a:prstGeom prst="rect">
            <a:avLst/>
          </a:prstGeom>
          <a:noFill/>
          <a:ln>
            <a:noFill/>
          </a:ln>
        </p:spPr>
      </p:pic>
      <p:pic>
        <p:nvPicPr>
          <p:cNvPr id="50" name="Google Shape;50;p1"/>
          <p:cNvPicPr preferRelativeResize="0"/>
          <p:nvPr/>
        </p:nvPicPr>
        <p:blipFill rotWithShape="1">
          <a:blip r:embed="rId4">
            <a:alphaModFix/>
          </a:blip>
          <a:srcRect b="0" l="0" r="82626" t="0"/>
          <a:stretch/>
        </p:blipFill>
        <p:spPr>
          <a:xfrm>
            <a:off x="1527713" y="989969"/>
            <a:ext cx="2501393" cy="222955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4" name="Shape 54"/>
        <p:cNvGrpSpPr/>
        <p:nvPr/>
      </p:nvGrpSpPr>
      <p:grpSpPr>
        <a:xfrm>
          <a:off x="0" y="0"/>
          <a:ext cx="0" cy="0"/>
          <a:chOff x="0" y="0"/>
          <a:chExt cx="0" cy="0"/>
        </a:xfrm>
      </p:grpSpPr>
      <p:sp>
        <p:nvSpPr>
          <p:cNvPr id="55" name="Google Shape;55;p17"/>
          <p:cNvSpPr/>
          <p:nvPr/>
        </p:nvSpPr>
        <p:spPr>
          <a:xfrm>
            <a:off x="7270755" y="5334055"/>
            <a:ext cx="3047890" cy="3047890"/>
          </a:xfrm>
          <a:prstGeom prst="ellipse">
            <a:avLst/>
          </a:prstGeom>
          <a:solidFill>
            <a:srgbClr val="8BC53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6" name="Google Shape;56;p17"/>
          <p:cNvSpPr/>
          <p:nvPr/>
        </p:nvSpPr>
        <p:spPr>
          <a:xfrm>
            <a:off x="10844111" y="2288987"/>
            <a:ext cx="3047890" cy="3047890"/>
          </a:xfrm>
          <a:prstGeom prst="ellipse">
            <a:avLst/>
          </a:prstGeom>
          <a:solidFill>
            <a:srgbClr val="8BC53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7" name="Google Shape;57;p17"/>
          <p:cNvSpPr/>
          <p:nvPr/>
        </p:nvSpPr>
        <p:spPr>
          <a:xfrm>
            <a:off x="9140389" y="4111270"/>
            <a:ext cx="5101168" cy="5101168"/>
          </a:xfrm>
          <a:prstGeom prst="ellipse">
            <a:avLst/>
          </a:prstGeom>
          <a:gradFill>
            <a:gsLst>
              <a:gs pos="0">
                <a:srgbClr val="005B26"/>
              </a:gs>
              <a:gs pos="50000">
                <a:srgbClr val="008338"/>
              </a:gs>
              <a:gs pos="100000">
                <a:srgbClr val="009E44"/>
              </a:gs>
            </a:gsLst>
            <a:lin ang="135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58" name="Google Shape;58;p17"/>
          <p:cNvSpPr txBox="1"/>
          <p:nvPr/>
        </p:nvSpPr>
        <p:spPr>
          <a:xfrm>
            <a:off x="5592408" y="1624614"/>
            <a:ext cx="5251703" cy="313932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Montserrat"/>
                <a:ea typeface="Montserrat"/>
                <a:cs typeface="Montserrat"/>
                <a:sym typeface="Montserrat"/>
              </a:rPr>
              <a:t>Malaysia Takaful Company Limited referred to as Syarikat Takaful or Takaful Malaysia is a Malaysian takaful company. Recently restructured to Syarikat Takaful Malaysia Keluarga Berhad (STMKB) which will continue to operate the Family Takaful business. A new company by the name of Syarikat Takaful Malaysia Am Berhad (STMAB), a wholly-owned subsidiary of STMKB on the other will be handling the General Takaful businesses. </a:t>
            </a:r>
            <a:endParaRPr b="0" i="0" sz="1800" u="none" cap="none" strike="noStrike">
              <a:solidFill>
                <a:srgbClr val="000000"/>
              </a:solidFill>
              <a:latin typeface="Montserrat"/>
              <a:ea typeface="Montserrat"/>
              <a:cs typeface="Montserrat"/>
              <a:sym typeface="Montserrat"/>
            </a:endParaRPr>
          </a:p>
        </p:txBody>
      </p:sp>
      <p:pic>
        <p:nvPicPr>
          <p:cNvPr id="59" name="Google Shape;59;p17"/>
          <p:cNvPicPr preferRelativeResize="0"/>
          <p:nvPr/>
        </p:nvPicPr>
        <p:blipFill rotWithShape="1">
          <a:blip r:embed="rId3">
            <a:alphaModFix/>
          </a:blip>
          <a:srcRect b="0" l="17268" r="0" t="-15054"/>
          <a:stretch/>
        </p:blipFill>
        <p:spPr>
          <a:xfrm>
            <a:off x="451728" y="4192751"/>
            <a:ext cx="4589839" cy="988434"/>
          </a:xfrm>
          <a:prstGeom prst="rect">
            <a:avLst/>
          </a:prstGeom>
          <a:noFill/>
          <a:ln>
            <a:noFill/>
          </a:ln>
        </p:spPr>
      </p:pic>
      <p:pic>
        <p:nvPicPr>
          <p:cNvPr id="60" name="Google Shape;60;p17"/>
          <p:cNvPicPr preferRelativeResize="0"/>
          <p:nvPr/>
        </p:nvPicPr>
        <p:blipFill rotWithShape="1">
          <a:blip r:embed="rId3">
            <a:alphaModFix/>
          </a:blip>
          <a:srcRect b="0" l="0" r="82626" t="0"/>
          <a:stretch/>
        </p:blipFill>
        <p:spPr>
          <a:xfrm>
            <a:off x="1294773" y="1349178"/>
            <a:ext cx="2884489" cy="257101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64" name="Shape 64"/>
        <p:cNvGrpSpPr/>
        <p:nvPr/>
      </p:nvGrpSpPr>
      <p:grpSpPr>
        <a:xfrm>
          <a:off x="0" y="0"/>
          <a:ext cx="0" cy="0"/>
          <a:chOff x="0" y="0"/>
          <a:chExt cx="0" cy="0"/>
        </a:xfrm>
      </p:grpSpPr>
      <p:sp>
        <p:nvSpPr>
          <p:cNvPr id="65" name="Google Shape;65;p18"/>
          <p:cNvSpPr/>
          <p:nvPr/>
        </p:nvSpPr>
        <p:spPr>
          <a:xfrm>
            <a:off x="7270755" y="5334055"/>
            <a:ext cx="3047890" cy="3047890"/>
          </a:xfrm>
          <a:prstGeom prst="ellipse">
            <a:avLst/>
          </a:prstGeom>
          <a:solidFill>
            <a:srgbClr val="8BC53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6" name="Google Shape;66;p18"/>
          <p:cNvSpPr/>
          <p:nvPr/>
        </p:nvSpPr>
        <p:spPr>
          <a:xfrm>
            <a:off x="10844111" y="2288987"/>
            <a:ext cx="3047890" cy="3047890"/>
          </a:xfrm>
          <a:prstGeom prst="ellipse">
            <a:avLst/>
          </a:prstGeom>
          <a:solidFill>
            <a:srgbClr val="8BC53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7" name="Google Shape;67;p18"/>
          <p:cNvSpPr/>
          <p:nvPr/>
        </p:nvSpPr>
        <p:spPr>
          <a:xfrm>
            <a:off x="9140389" y="4111270"/>
            <a:ext cx="5101168" cy="5101168"/>
          </a:xfrm>
          <a:prstGeom prst="ellipse">
            <a:avLst/>
          </a:prstGeom>
          <a:gradFill>
            <a:gsLst>
              <a:gs pos="0">
                <a:srgbClr val="005B26"/>
              </a:gs>
              <a:gs pos="50000">
                <a:srgbClr val="008338"/>
              </a:gs>
              <a:gs pos="100000">
                <a:srgbClr val="009E44"/>
              </a:gs>
            </a:gsLst>
            <a:lin ang="135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68" name="Google Shape;68;p18"/>
          <p:cNvSpPr txBox="1"/>
          <p:nvPr/>
        </p:nvSpPr>
        <p:spPr>
          <a:xfrm>
            <a:off x="4885835" y="1624614"/>
            <a:ext cx="5251703" cy="286232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Montserrat"/>
                <a:ea typeface="Montserrat"/>
                <a:cs typeface="Montserrat"/>
                <a:sym typeface="Montserrat"/>
              </a:rPr>
              <a:t>A co-operative system of reimbursement or repayment in case of loss, organized as an Islamic 	or religious law compliant alternative to conventional insurance. Under Takaful, people and companies concerned about hazards make regular contributions (“donations”) to be reimbursed or repaid to members in the event of loss and managed on their behalf by a Takaful Operator.</a:t>
            </a:r>
            <a:endParaRPr b="0" i="0" sz="1800" u="none" cap="none" strike="noStrike">
              <a:solidFill>
                <a:srgbClr val="000000"/>
              </a:solidFill>
              <a:latin typeface="Montserrat"/>
              <a:ea typeface="Montserrat"/>
              <a:cs typeface="Montserrat"/>
              <a:sym typeface="Montserrat"/>
            </a:endParaRPr>
          </a:p>
        </p:txBody>
      </p:sp>
      <p:pic>
        <p:nvPicPr>
          <p:cNvPr id="69" name="Google Shape;69;p18"/>
          <p:cNvPicPr preferRelativeResize="0"/>
          <p:nvPr/>
        </p:nvPicPr>
        <p:blipFill rotWithShape="1">
          <a:blip r:embed="rId3">
            <a:alphaModFix/>
          </a:blip>
          <a:srcRect b="0" l="17268" r="41728" t="-15054"/>
          <a:stretch/>
        </p:blipFill>
        <p:spPr>
          <a:xfrm>
            <a:off x="1407125" y="4000910"/>
            <a:ext cx="2274785" cy="988434"/>
          </a:xfrm>
          <a:prstGeom prst="rect">
            <a:avLst/>
          </a:prstGeom>
          <a:noFill/>
          <a:ln>
            <a:noFill/>
          </a:ln>
        </p:spPr>
      </p:pic>
      <p:sp>
        <p:nvSpPr>
          <p:cNvPr id="70" name="Google Shape;70;p18"/>
          <p:cNvSpPr txBox="1"/>
          <p:nvPr/>
        </p:nvSpPr>
        <p:spPr>
          <a:xfrm>
            <a:off x="1072505" y="4903168"/>
            <a:ext cx="3047890" cy="43088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1100" u="none" cap="none" strike="noStrike">
                <a:solidFill>
                  <a:srgbClr val="000000"/>
                </a:solidFill>
                <a:latin typeface="Montserrat"/>
                <a:ea typeface="Montserrat"/>
                <a:cs typeface="Montserrat"/>
                <a:sym typeface="Montserrat"/>
              </a:rPr>
              <a:t>Is an Arabic word sometimes translated as “solidarity” or mutual guarantee</a:t>
            </a:r>
            <a:endParaRPr b="0" i="0" sz="1100" u="none" cap="none" strike="noStrike">
              <a:solidFill>
                <a:srgbClr val="000000"/>
              </a:solidFill>
              <a:latin typeface="Montserrat"/>
              <a:ea typeface="Montserrat"/>
              <a:cs typeface="Montserrat"/>
              <a:sym typeface="Montserrat"/>
            </a:endParaRPr>
          </a:p>
        </p:txBody>
      </p:sp>
      <p:pic>
        <p:nvPicPr>
          <p:cNvPr id="71" name="Google Shape;71;p18"/>
          <p:cNvPicPr preferRelativeResize="0"/>
          <p:nvPr/>
        </p:nvPicPr>
        <p:blipFill rotWithShape="1">
          <a:blip r:embed="rId3">
            <a:alphaModFix/>
          </a:blip>
          <a:srcRect b="0" l="0" r="82626" t="0"/>
          <a:stretch/>
        </p:blipFill>
        <p:spPr>
          <a:xfrm>
            <a:off x="1294773" y="1349178"/>
            <a:ext cx="2884489" cy="257101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5" name="Shape 75"/>
        <p:cNvGrpSpPr/>
        <p:nvPr/>
      </p:nvGrpSpPr>
      <p:grpSpPr>
        <a:xfrm>
          <a:off x="0" y="0"/>
          <a:ext cx="0" cy="0"/>
          <a:chOff x="0" y="0"/>
          <a:chExt cx="0" cy="0"/>
        </a:xfrm>
      </p:grpSpPr>
      <p:sp>
        <p:nvSpPr>
          <p:cNvPr id="76" name="Google Shape;76;p19"/>
          <p:cNvSpPr/>
          <p:nvPr/>
        </p:nvSpPr>
        <p:spPr>
          <a:xfrm>
            <a:off x="7270755" y="5334055"/>
            <a:ext cx="3047890" cy="3047890"/>
          </a:xfrm>
          <a:prstGeom prst="ellipse">
            <a:avLst/>
          </a:prstGeom>
          <a:solidFill>
            <a:srgbClr val="8BC53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7" name="Google Shape;77;p19"/>
          <p:cNvSpPr/>
          <p:nvPr/>
        </p:nvSpPr>
        <p:spPr>
          <a:xfrm>
            <a:off x="10844111" y="2288987"/>
            <a:ext cx="3047890" cy="3047890"/>
          </a:xfrm>
          <a:prstGeom prst="ellipse">
            <a:avLst/>
          </a:prstGeom>
          <a:solidFill>
            <a:srgbClr val="8BC53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8" name="Google Shape;78;p19"/>
          <p:cNvSpPr/>
          <p:nvPr/>
        </p:nvSpPr>
        <p:spPr>
          <a:xfrm>
            <a:off x="9140389" y="4111270"/>
            <a:ext cx="5101168" cy="5101168"/>
          </a:xfrm>
          <a:prstGeom prst="ellipse">
            <a:avLst/>
          </a:prstGeom>
          <a:gradFill>
            <a:gsLst>
              <a:gs pos="0">
                <a:srgbClr val="005B26"/>
              </a:gs>
              <a:gs pos="50000">
                <a:srgbClr val="008338"/>
              </a:gs>
              <a:gs pos="100000">
                <a:srgbClr val="009E44"/>
              </a:gs>
            </a:gsLst>
            <a:lin ang="135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79" name="Google Shape;79;p19"/>
          <p:cNvSpPr txBox="1"/>
          <p:nvPr/>
        </p:nvSpPr>
        <p:spPr>
          <a:xfrm>
            <a:off x="5008913" y="1126674"/>
            <a:ext cx="5251703"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9345"/>
                </a:solidFill>
                <a:latin typeface="Montserrat"/>
                <a:ea typeface="Montserrat"/>
                <a:cs typeface="Montserrat"/>
                <a:sym typeface="Montserrat"/>
              </a:rPr>
              <a:t>Challenges</a:t>
            </a:r>
            <a:endParaRPr b="1" i="0" sz="3600" u="none" cap="none" strike="noStrike">
              <a:solidFill>
                <a:srgbClr val="009345"/>
              </a:solidFill>
              <a:latin typeface="Montserrat"/>
              <a:ea typeface="Montserrat"/>
              <a:cs typeface="Montserrat"/>
              <a:sym typeface="Montserrat"/>
            </a:endParaRPr>
          </a:p>
        </p:txBody>
      </p:sp>
      <p:pic>
        <p:nvPicPr>
          <p:cNvPr id="80" name="Google Shape;80;p19"/>
          <p:cNvPicPr preferRelativeResize="0"/>
          <p:nvPr/>
        </p:nvPicPr>
        <p:blipFill rotWithShape="1">
          <a:blip r:embed="rId3">
            <a:alphaModFix/>
          </a:blip>
          <a:srcRect b="0" l="0" r="82626" t="0"/>
          <a:stretch/>
        </p:blipFill>
        <p:spPr>
          <a:xfrm>
            <a:off x="1294773" y="1349178"/>
            <a:ext cx="2884489" cy="2571015"/>
          </a:xfrm>
          <a:prstGeom prst="rect">
            <a:avLst/>
          </a:prstGeom>
          <a:noFill/>
          <a:ln>
            <a:noFill/>
          </a:ln>
        </p:spPr>
      </p:pic>
      <p:pic>
        <p:nvPicPr>
          <p:cNvPr id="81" name="Google Shape;81;p19"/>
          <p:cNvPicPr preferRelativeResize="0"/>
          <p:nvPr/>
        </p:nvPicPr>
        <p:blipFill rotWithShape="1">
          <a:blip r:embed="rId3">
            <a:alphaModFix/>
          </a:blip>
          <a:srcRect b="0" l="17268" r="0" t="-15054"/>
          <a:stretch/>
        </p:blipFill>
        <p:spPr>
          <a:xfrm>
            <a:off x="813866" y="4273236"/>
            <a:ext cx="3669581" cy="790254"/>
          </a:xfrm>
          <a:prstGeom prst="rect">
            <a:avLst/>
          </a:prstGeom>
          <a:noFill/>
          <a:ln>
            <a:noFill/>
          </a:ln>
        </p:spPr>
      </p:pic>
      <p:sp>
        <p:nvSpPr>
          <p:cNvPr id="82" name="Google Shape;82;p19"/>
          <p:cNvSpPr txBox="1"/>
          <p:nvPr/>
        </p:nvSpPr>
        <p:spPr>
          <a:xfrm>
            <a:off x="5008913" y="1997839"/>
            <a:ext cx="5251703" cy="3323987"/>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8BC53F"/>
              </a:buClr>
              <a:buSzPts val="1610"/>
              <a:buFont typeface="Arial"/>
              <a:buChar char="•"/>
            </a:pPr>
            <a:r>
              <a:rPr b="0" i="0" lang="en-US" sz="1400" u="none" cap="none" strike="noStrike">
                <a:solidFill>
                  <a:srgbClr val="000000"/>
                </a:solidFill>
                <a:latin typeface="Montserrat"/>
                <a:ea typeface="Montserrat"/>
                <a:cs typeface="Montserrat"/>
                <a:sym typeface="Montserrat"/>
              </a:rPr>
              <a:t>The recent restructuring brought about a concern on content and digital asset management.</a:t>
            </a:r>
            <a:endParaRPr/>
          </a:p>
          <a:p>
            <a:pPr indent="-183515" lvl="0" marL="285750" marR="0" rtl="0" algn="l">
              <a:lnSpc>
                <a:spcPct val="100000"/>
              </a:lnSpc>
              <a:spcBef>
                <a:spcPts val="0"/>
              </a:spcBef>
              <a:spcAft>
                <a:spcPts val="0"/>
              </a:spcAft>
              <a:buClr>
                <a:srgbClr val="8BC53F"/>
              </a:buClr>
              <a:buSzPts val="1610"/>
              <a:buFont typeface="Arial"/>
              <a:buNone/>
            </a:pPr>
            <a:r>
              <a:t/>
            </a:r>
            <a:endParaRPr b="0" i="0" sz="1400" u="none" cap="none" strike="noStrike">
              <a:solidFill>
                <a:srgbClr val="000000"/>
              </a:solidFill>
              <a:latin typeface="Montserrat"/>
              <a:ea typeface="Montserrat"/>
              <a:cs typeface="Montserrat"/>
              <a:sym typeface="Montserrat"/>
            </a:endParaRPr>
          </a:p>
          <a:p>
            <a:pPr indent="-285750" lvl="0" marL="285750" marR="0" rtl="0" algn="l">
              <a:lnSpc>
                <a:spcPct val="100000"/>
              </a:lnSpc>
              <a:spcBef>
                <a:spcPts val="0"/>
              </a:spcBef>
              <a:spcAft>
                <a:spcPts val="0"/>
              </a:spcAft>
              <a:buClr>
                <a:srgbClr val="8BC53F"/>
              </a:buClr>
              <a:buSzPts val="1610"/>
              <a:buFont typeface="Arial"/>
              <a:buChar char="•"/>
            </a:pPr>
            <a:r>
              <a:rPr b="0" i="0" lang="en-US" sz="1400" u="none" cap="none" strike="noStrike">
                <a:solidFill>
                  <a:srgbClr val="000000"/>
                </a:solidFill>
                <a:latin typeface="Montserrat"/>
                <a:ea typeface="Montserrat"/>
                <a:cs typeface="Montserrat"/>
                <a:sym typeface="Montserrat"/>
              </a:rPr>
              <a:t>Content and digital assets are mobile and spread across clouds that is accessible from anywhere.</a:t>
            </a:r>
            <a:endParaRPr/>
          </a:p>
          <a:p>
            <a:pPr indent="-183515" lvl="0" marL="285750" marR="0" rtl="0" algn="l">
              <a:lnSpc>
                <a:spcPct val="100000"/>
              </a:lnSpc>
              <a:spcBef>
                <a:spcPts val="0"/>
              </a:spcBef>
              <a:spcAft>
                <a:spcPts val="0"/>
              </a:spcAft>
              <a:buClr>
                <a:srgbClr val="8BC53F"/>
              </a:buClr>
              <a:buSzPts val="1610"/>
              <a:buFont typeface="Arial"/>
              <a:buNone/>
            </a:pPr>
            <a:r>
              <a:t/>
            </a:r>
            <a:endParaRPr b="0" i="0" sz="1400" u="none" cap="none" strike="noStrike">
              <a:solidFill>
                <a:srgbClr val="000000"/>
              </a:solidFill>
              <a:latin typeface="Montserrat"/>
              <a:ea typeface="Montserrat"/>
              <a:cs typeface="Montserrat"/>
              <a:sym typeface="Montserrat"/>
            </a:endParaRPr>
          </a:p>
          <a:p>
            <a:pPr indent="-285750" lvl="0" marL="285750" marR="0" rtl="0" algn="l">
              <a:lnSpc>
                <a:spcPct val="100000"/>
              </a:lnSpc>
              <a:spcBef>
                <a:spcPts val="0"/>
              </a:spcBef>
              <a:spcAft>
                <a:spcPts val="0"/>
              </a:spcAft>
              <a:buClr>
                <a:srgbClr val="8BC53F"/>
              </a:buClr>
              <a:buSzPts val="1610"/>
              <a:buFont typeface="Arial"/>
              <a:buChar char="•"/>
            </a:pPr>
            <a:r>
              <a:rPr b="0" i="0" lang="en-US" sz="1400" u="none" cap="none" strike="noStrike">
                <a:solidFill>
                  <a:srgbClr val="000000"/>
                </a:solidFill>
                <a:latin typeface="Montserrat"/>
                <a:ea typeface="Montserrat"/>
                <a:cs typeface="Montserrat"/>
                <a:sym typeface="Montserrat"/>
              </a:rPr>
              <a:t>Also spread in NAS drives, shared folder, online files storage devices (Dropbox, Google Drive, WebDAV, SharePoint).</a:t>
            </a:r>
            <a:endParaRPr/>
          </a:p>
          <a:p>
            <a:pPr indent="-183515" lvl="0" marL="285750" marR="0" rtl="0" algn="l">
              <a:lnSpc>
                <a:spcPct val="100000"/>
              </a:lnSpc>
              <a:spcBef>
                <a:spcPts val="0"/>
              </a:spcBef>
              <a:spcAft>
                <a:spcPts val="0"/>
              </a:spcAft>
              <a:buClr>
                <a:srgbClr val="8BC53F"/>
              </a:buClr>
              <a:buSzPts val="1610"/>
              <a:buFont typeface="Arial"/>
              <a:buNone/>
            </a:pPr>
            <a:r>
              <a:t/>
            </a:r>
            <a:endParaRPr b="0" i="0" sz="1400" u="none" cap="none" strike="noStrike">
              <a:solidFill>
                <a:srgbClr val="000000"/>
              </a:solidFill>
              <a:latin typeface="Montserrat"/>
              <a:ea typeface="Montserrat"/>
              <a:cs typeface="Montserrat"/>
              <a:sym typeface="Montserrat"/>
            </a:endParaRPr>
          </a:p>
          <a:p>
            <a:pPr indent="-285750" lvl="0" marL="285750" marR="0" rtl="0" algn="l">
              <a:lnSpc>
                <a:spcPct val="100000"/>
              </a:lnSpc>
              <a:spcBef>
                <a:spcPts val="0"/>
              </a:spcBef>
              <a:spcAft>
                <a:spcPts val="0"/>
              </a:spcAft>
              <a:buClr>
                <a:srgbClr val="8BC53F"/>
              </a:buClr>
              <a:buSzPts val="1610"/>
              <a:buFont typeface="Arial"/>
              <a:buChar char="•"/>
            </a:pPr>
            <a:r>
              <a:rPr b="0" i="0" lang="en-US" sz="1400" u="none" cap="none" strike="noStrike">
                <a:solidFill>
                  <a:srgbClr val="000000"/>
                </a:solidFill>
                <a:latin typeface="Montserrat"/>
                <a:ea typeface="Montserrat"/>
                <a:cs typeface="Montserrat"/>
                <a:sym typeface="Montserrat"/>
              </a:rPr>
              <a:t>Hyper- Connected and Social with major shareholder BIMB Holdings Berhad (BHB) and subsidiary Syarikat Takaful Malaysia Am Berhad (STMAB)</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86" name="Shape 86"/>
        <p:cNvGrpSpPr/>
        <p:nvPr/>
      </p:nvGrpSpPr>
      <p:grpSpPr>
        <a:xfrm>
          <a:off x="0" y="0"/>
          <a:ext cx="0" cy="0"/>
          <a:chOff x="0" y="0"/>
          <a:chExt cx="0" cy="0"/>
        </a:xfrm>
      </p:grpSpPr>
      <p:sp>
        <p:nvSpPr>
          <p:cNvPr id="87" name="Google Shape;87;p20"/>
          <p:cNvSpPr/>
          <p:nvPr/>
        </p:nvSpPr>
        <p:spPr>
          <a:xfrm>
            <a:off x="7270755" y="5334055"/>
            <a:ext cx="3047890" cy="3047890"/>
          </a:xfrm>
          <a:prstGeom prst="ellipse">
            <a:avLst/>
          </a:prstGeom>
          <a:solidFill>
            <a:srgbClr val="8BC53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8" name="Google Shape;88;p20"/>
          <p:cNvSpPr/>
          <p:nvPr/>
        </p:nvSpPr>
        <p:spPr>
          <a:xfrm>
            <a:off x="10844111" y="2288987"/>
            <a:ext cx="3047890" cy="3047890"/>
          </a:xfrm>
          <a:prstGeom prst="ellipse">
            <a:avLst/>
          </a:prstGeom>
          <a:solidFill>
            <a:srgbClr val="8BC53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89" name="Google Shape;89;p20"/>
          <p:cNvSpPr/>
          <p:nvPr/>
        </p:nvSpPr>
        <p:spPr>
          <a:xfrm>
            <a:off x="9140389" y="4111270"/>
            <a:ext cx="5101168" cy="5101168"/>
          </a:xfrm>
          <a:prstGeom prst="ellipse">
            <a:avLst/>
          </a:prstGeom>
          <a:gradFill>
            <a:gsLst>
              <a:gs pos="0">
                <a:srgbClr val="005B26"/>
              </a:gs>
              <a:gs pos="50000">
                <a:srgbClr val="008338"/>
              </a:gs>
              <a:gs pos="100000">
                <a:srgbClr val="009E44"/>
              </a:gs>
            </a:gsLst>
            <a:lin ang="135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90" name="Google Shape;90;p20"/>
          <p:cNvSpPr txBox="1"/>
          <p:nvPr/>
        </p:nvSpPr>
        <p:spPr>
          <a:xfrm>
            <a:off x="4885835" y="1126674"/>
            <a:ext cx="5251703"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009345"/>
                </a:solidFill>
                <a:latin typeface="Montserrat"/>
                <a:ea typeface="Montserrat"/>
                <a:cs typeface="Montserrat"/>
                <a:sym typeface="Montserrat"/>
              </a:rPr>
              <a:t>Requirements</a:t>
            </a:r>
            <a:endParaRPr b="1" i="0" sz="3600" u="none" cap="none" strike="noStrike">
              <a:solidFill>
                <a:srgbClr val="009345"/>
              </a:solidFill>
              <a:latin typeface="Montserrat"/>
              <a:ea typeface="Montserrat"/>
              <a:cs typeface="Montserrat"/>
              <a:sym typeface="Montserrat"/>
            </a:endParaRPr>
          </a:p>
        </p:txBody>
      </p:sp>
      <p:pic>
        <p:nvPicPr>
          <p:cNvPr id="91" name="Google Shape;91;p20"/>
          <p:cNvPicPr preferRelativeResize="0"/>
          <p:nvPr/>
        </p:nvPicPr>
        <p:blipFill rotWithShape="1">
          <a:blip r:embed="rId3">
            <a:alphaModFix/>
          </a:blip>
          <a:srcRect b="0" l="0" r="82626" t="0"/>
          <a:stretch/>
        </p:blipFill>
        <p:spPr>
          <a:xfrm>
            <a:off x="1294773" y="1349178"/>
            <a:ext cx="2884489" cy="2571015"/>
          </a:xfrm>
          <a:prstGeom prst="rect">
            <a:avLst/>
          </a:prstGeom>
          <a:noFill/>
          <a:ln>
            <a:noFill/>
          </a:ln>
        </p:spPr>
      </p:pic>
      <p:pic>
        <p:nvPicPr>
          <p:cNvPr id="92" name="Google Shape;92;p20"/>
          <p:cNvPicPr preferRelativeResize="0"/>
          <p:nvPr/>
        </p:nvPicPr>
        <p:blipFill rotWithShape="1">
          <a:blip r:embed="rId3">
            <a:alphaModFix/>
          </a:blip>
          <a:srcRect b="0" l="17268" r="0" t="-15054"/>
          <a:stretch/>
        </p:blipFill>
        <p:spPr>
          <a:xfrm>
            <a:off x="813866" y="4273236"/>
            <a:ext cx="3669581" cy="790254"/>
          </a:xfrm>
          <a:prstGeom prst="rect">
            <a:avLst/>
          </a:prstGeom>
          <a:noFill/>
          <a:ln>
            <a:noFill/>
          </a:ln>
        </p:spPr>
      </p:pic>
      <p:sp>
        <p:nvSpPr>
          <p:cNvPr id="93" name="Google Shape;93;p20"/>
          <p:cNvSpPr txBox="1"/>
          <p:nvPr/>
        </p:nvSpPr>
        <p:spPr>
          <a:xfrm>
            <a:off x="4885824" y="1997850"/>
            <a:ext cx="5629800" cy="21288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rgbClr val="8BC53F"/>
              </a:buClr>
              <a:buSzPts val="1610"/>
              <a:buFont typeface="Arial"/>
              <a:buChar char="•"/>
            </a:pPr>
            <a:r>
              <a:rPr b="0" i="0" lang="en-US" sz="1400" u="none" cap="none" strike="noStrike">
                <a:solidFill>
                  <a:srgbClr val="000000"/>
                </a:solidFill>
                <a:latin typeface="Montserrat"/>
                <a:ea typeface="Montserrat"/>
                <a:cs typeface="Montserrat"/>
                <a:sym typeface="Montserrat"/>
              </a:rPr>
              <a:t>Enterprise Content platform for their digital content and big data for proper management.</a:t>
            </a:r>
            <a:endParaRPr/>
          </a:p>
          <a:p>
            <a:pPr indent="-183515" lvl="0" marL="285750" marR="0" rtl="0" algn="l">
              <a:lnSpc>
                <a:spcPct val="100000"/>
              </a:lnSpc>
              <a:spcBef>
                <a:spcPts val="0"/>
              </a:spcBef>
              <a:spcAft>
                <a:spcPts val="0"/>
              </a:spcAft>
              <a:buClr>
                <a:srgbClr val="8BC53F"/>
              </a:buClr>
              <a:buSzPts val="1610"/>
              <a:buFont typeface="Arial"/>
              <a:buNone/>
            </a:pPr>
            <a:r>
              <a:t/>
            </a:r>
            <a:endParaRPr b="0" i="0" sz="1400" u="none" cap="none" strike="noStrike">
              <a:solidFill>
                <a:srgbClr val="000000"/>
              </a:solidFill>
              <a:latin typeface="Montserrat"/>
              <a:ea typeface="Montserrat"/>
              <a:cs typeface="Montserrat"/>
              <a:sym typeface="Montserrat"/>
            </a:endParaRPr>
          </a:p>
          <a:p>
            <a:pPr indent="-285750" lvl="0" marL="285750" marR="0" rtl="0" algn="l">
              <a:lnSpc>
                <a:spcPct val="100000"/>
              </a:lnSpc>
              <a:spcBef>
                <a:spcPts val="0"/>
              </a:spcBef>
              <a:spcAft>
                <a:spcPts val="0"/>
              </a:spcAft>
              <a:buClr>
                <a:srgbClr val="8BC53F"/>
              </a:buClr>
              <a:buSzPts val="1610"/>
              <a:buFont typeface="Arial"/>
              <a:buChar char="•"/>
            </a:pPr>
            <a:r>
              <a:rPr b="0" i="0" lang="en-US" sz="1400" u="none" cap="none" strike="noStrike">
                <a:solidFill>
                  <a:srgbClr val="000000"/>
                </a:solidFill>
                <a:latin typeface="Montserrat"/>
                <a:ea typeface="Montserrat"/>
                <a:cs typeface="Montserrat"/>
                <a:sym typeface="Montserrat"/>
              </a:rPr>
              <a:t>An efficient, single view of content with Enterprise controls and data leakage prevention.</a:t>
            </a:r>
            <a:endParaRPr/>
          </a:p>
          <a:p>
            <a:pPr indent="-183515" lvl="0" marL="285750" marR="0" rtl="0" algn="l">
              <a:lnSpc>
                <a:spcPct val="100000"/>
              </a:lnSpc>
              <a:spcBef>
                <a:spcPts val="0"/>
              </a:spcBef>
              <a:spcAft>
                <a:spcPts val="0"/>
              </a:spcAft>
              <a:buClr>
                <a:srgbClr val="8BC53F"/>
              </a:buClr>
              <a:buSzPts val="1610"/>
              <a:buFont typeface="Arial"/>
              <a:buNone/>
            </a:pPr>
            <a:r>
              <a:t/>
            </a:r>
            <a:endParaRPr b="0" i="0" sz="1400" u="none" cap="none" strike="noStrike">
              <a:solidFill>
                <a:srgbClr val="000000"/>
              </a:solidFill>
              <a:latin typeface="Montserrat"/>
              <a:ea typeface="Montserrat"/>
              <a:cs typeface="Montserrat"/>
              <a:sym typeface="Montserrat"/>
            </a:endParaRPr>
          </a:p>
          <a:p>
            <a:pPr indent="-285750" lvl="0" marL="285750" marR="0" rtl="0" algn="l">
              <a:lnSpc>
                <a:spcPct val="100000"/>
              </a:lnSpc>
              <a:spcBef>
                <a:spcPts val="0"/>
              </a:spcBef>
              <a:spcAft>
                <a:spcPts val="0"/>
              </a:spcAft>
              <a:buClr>
                <a:srgbClr val="8BC53F"/>
              </a:buClr>
              <a:buSzPts val="1610"/>
              <a:buFont typeface="Arial"/>
              <a:buChar char="•"/>
            </a:pPr>
            <a:r>
              <a:rPr b="0" i="0" lang="en-US" sz="1400" u="none" cap="none" strike="noStrike">
                <a:solidFill>
                  <a:srgbClr val="000000"/>
                </a:solidFill>
                <a:latin typeface="Montserrat"/>
                <a:ea typeface="Montserrat"/>
                <a:cs typeface="Montserrat"/>
                <a:sym typeface="Montserrat"/>
              </a:rPr>
              <a:t>Solution complaint with audits and standards:</a:t>
            </a:r>
            <a:endParaRPr/>
          </a:p>
          <a:p>
            <a:pPr indent="0" lvl="5" marL="0" marR="0" rtl="0" algn="l">
              <a:lnSpc>
                <a:spcPct val="100000"/>
              </a:lnSpc>
              <a:spcBef>
                <a:spcPts val="0"/>
              </a:spcBef>
              <a:spcAft>
                <a:spcPts val="0"/>
              </a:spcAft>
              <a:buNone/>
            </a:pPr>
            <a:r>
              <a:rPr b="0" i="0" lang="en-US" sz="1400" u="none" cap="none" strike="noStrike">
                <a:solidFill>
                  <a:srgbClr val="000000"/>
                </a:solidFill>
                <a:latin typeface="Montserrat"/>
                <a:ea typeface="Montserrat"/>
                <a:cs typeface="Montserrat"/>
                <a:sym typeface="Montserrat"/>
              </a:rPr>
              <a:t>	- Payment Card Industry</a:t>
            </a:r>
            <a:endParaRPr/>
          </a:p>
          <a:p>
            <a:pPr indent="0" lvl="5" marL="0" marR="0" rtl="0" algn="l">
              <a:lnSpc>
                <a:spcPct val="100000"/>
              </a:lnSpc>
              <a:spcBef>
                <a:spcPts val="0"/>
              </a:spcBef>
              <a:spcAft>
                <a:spcPts val="0"/>
              </a:spcAft>
              <a:buNone/>
            </a:pPr>
            <a:r>
              <a:rPr b="0" i="0" lang="en-US" sz="1400" u="none" cap="none" strike="noStrike">
                <a:solidFill>
                  <a:srgbClr val="000000"/>
                </a:solidFill>
                <a:latin typeface="Montserrat"/>
                <a:ea typeface="Montserrat"/>
                <a:cs typeface="Montserrat"/>
                <a:sym typeface="Montserrat"/>
              </a:rPr>
              <a:t>	- Health Insurance Portability and Accountability  Act</a:t>
            </a:r>
            <a:endParaRPr b="0" i="0" sz="14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97" name="Shape 97"/>
        <p:cNvGrpSpPr/>
        <p:nvPr/>
      </p:nvGrpSpPr>
      <p:grpSpPr>
        <a:xfrm>
          <a:off x="0" y="0"/>
          <a:ext cx="0" cy="0"/>
          <a:chOff x="0" y="0"/>
          <a:chExt cx="0" cy="0"/>
        </a:xfrm>
      </p:grpSpPr>
      <p:sp>
        <p:nvSpPr>
          <p:cNvPr id="98" name="Google Shape;98;p4"/>
          <p:cNvSpPr/>
          <p:nvPr/>
        </p:nvSpPr>
        <p:spPr>
          <a:xfrm>
            <a:off x="7789581" y="1924599"/>
            <a:ext cx="5892297" cy="5892297"/>
          </a:xfrm>
          <a:prstGeom prst="ellipse">
            <a:avLst/>
          </a:prstGeom>
          <a:gradFill>
            <a:gsLst>
              <a:gs pos="0">
                <a:srgbClr val="005B26"/>
              </a:gs>
              <a:gs pos="50000">
                <a:srgbClr val="008338"/>
              </a:gs>
              <a:gs pos="100000">
                <a:srgbClr val="009E44"/>
              </a:gs>
            </a:gsLst>
            <a:lin ang="1350003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99" name="Google Shape;99;p4"/>
          <p:cNvPicPr preferRelativeResize="0"/>
          <p:nvPr/>
        </p:nvPicPr>
        <p:blipFill rotWithShape="1">
          <a:blip r:embed="rId3">
            <a:alphaModFix/>
          </a:blip>
          <a:srcRect b="47657" l="0" r="0" t="21471"/>
          <a:stretch/>
        </p:blipFill>
        <p:spPr>
          <a:xfrm>
            <a:off x="0" y="638626"/>
            <a:ext cx="3019025" cy="932030"/>
          </a:xfrm>
          <a:prstGeom prst="rect">
            <a:avLst/>
          </a:prstGeom>
          <a:noFill/>
          <a:ln>
            <a:noFill/>
          </a:ln>
        </p:spPr>
      </p:pic>
      <p:pic>
        <p:nvPicPr>
          <p:cNvPr id="100" name="Google Shape;100;p4"/>
          <p:cNvPicPr preferRelativeResize="0"/>
          <p:nvPr/>
        </p:nvPicPr>
        <p:blipFill rotWithShape="1">
          <a:blip r:embed="rId3">
            <a:alphaModFix/>
          </a:blip>
          <a:srcRect b="24885" l="0" r="0" t="51017"/>
          <a:stretch/>
        </p:blipFill>
        <p:spPr>
          <a:xfrm>
            <a:off x="1928801" y="906526"/>
            <a:ext cx="3108548" cy="749025"/>
          </a:xfrm>
          <a:prstGeom prst="rect">
            <a:avLst/>
          </a:prstGeom>
          <a:noFill/>
          <a:ln>
            <a:noFill/>
          </a:ln>
        </p:spPr>
      </p:pic>
      <p:sp>
        <p:nvSpPr>
          <p:cNvPr id="101" name="Google Shape;101;p4"/>
          <p:cNvSpPr txBox="1"/>
          <p:nvPr/>
        </p:nvSpPr>
        <p:spPr>
          <a:xfrm>
            <a:off x="860096" y="2627379"/>
            <a:ext cx="3981695" cy="707886"/>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4000" u="none" cap="none" strike="noStrike">
                <a:solidFill>
                  <a:srgbClr val="009345"/>
                </a:solidFill>
                <a:latin typeface="Montserrat"/>
                <a:ea typeface="Montserrat"/>
                <a:cs typeface="Montserrat"/>
                <a:sym typeface="Montserrat"/>
              </a:rPr>
              <a:t>Solution</a:t>
            </a:r>
            <a:endParaRPr b="1" i="0" sz="4000" u="none" cap="none" strike="noStrike">
              <a:solidFill>
                <a:srgbClr val="009345"/>
              </a:solidFill>
              <a:latin typeface="Montserrat"/>
              <a:ea typeface="Montserrat"/>
              <a:cs typeface="Montserrat"/>
              <a:sym typeface="Montserrat"/>
            </a:endParaRPr>
          </a:p>
        </p:txBody>
      </p:sp>
      <p:sp>
        <p:nvSpPr>
          <p:cNvPr id="102" name="Google Shape;102;p4"/>
          <p:cNvSpPr txBox="1"/>
          <p:nvPr/>
        </p:nvSpPr>
        <p:spPr>
          <a:xfrm>
            <a:off x="860096" y="3429000"/>
            <a:ext cx="6423000" cy="2247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Montserrat"/>
                <a:ea typeface="Montserrat"/>
                <a:cs typeface="Montserrat"/>
                <a:sym typeface="Montserrat"/>
              </a:rPr>
              <a:t>XBIN, </a:t>
            </a:r>
            <a:r>
              <a:rPr lang="en-US">
                <a:latin typeface="Montserrat"/>
                <a:ea typeface="Montserrat"/>
                <a:cs typeface="Montserrat"/>
                <a:sym typeface="Montserrat"/>
              </a:rPr>
              <a:t>was selected after an a comprehensive evaluation and pilot to meet the secure document</a:t>
            </a:r>
            <a:r>
              <a:rPr b="0" i="0" lang="en-US" sz="1400" u="none" cap="none" strike="noStrike">
                <a:solidFill>
                  <a:srgbClr val="000000"/>
                </a:solidFill>
                <a:latin typeface="Montserrat"/>
                <a:ea typeface="Montserrat"/>
                <a:cs typeface="Montserrat"/>
                <a:sym typeface="Montserrat"/>
              </a:rPr>
              <a:t> sharing and management requirements of Takaful Malaysia.</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Montserrat"/>
              <a:ea typeface="Montserrat"/>
              <a:cs typeface="Montserrat"/>
              <a:sym typeface="Montserrat"/>
            </a:endParaRPr>
          </a:p>
          <a:p>
            <a:pPr indent="0" lvl="0" marL="0" marR="0" rtl="0" algn="l">
              <a:lnSpc>
                <a:spcPct val="100000"/>
              </a:lnSpc>
              <a:spcBef>
                <a:spcPts val="0"/>
              </a:spcBef>
              <a:spcAft>
                <a:spcPts val="0"/>
              </a:spcAft>
              <a:buNone/>
            </a:pPr>
            <a:r>
              <a:rPr b="0" i="0" lang="en-US" sz="1400" u="none" cap="none" strike="noStrike">
                <a:solidFill>
                  <a:srgbClr val="000000"/>
                </a:solidFill>
                <a:latin typeface="Montserrat"/>
                <a:ea typeface="Montserrat"/>
                <a:cs typeface="Montserrat"/>
                <a:sym typeface="Montserrat"/>
              </a:rPr>
              <a:t>The “OneView” feature combine</a:t>
            </a:r>
            <a:r>
              <a:rPr lang="en-US">
                <a:latin typeface="Montserrat"/>
                <a:ea typeface="Montserrat"/>
                <a:cs typeface="Montserrat"/>
                <a:sym typeface="Montserrat"/>
              </a:rPr>
              <a:t>d</a:t>
            </a:r>
            <a:r>
              <a:rPr b="0" i="0" lang="en-US" sz="1400" u="none" cap="none" strike="noStrike">
                <a:solidFill>
                  <a:srgbClr val="000000"/>
                </a:solidFill>
                <a:latin typeface="Montserrat"/>
                <a:ea typeface="Montserrat"/>
                <a:cs typeface="Montserrat"/>
                <a:sym typeface="Montserrat"/>
              </a:rPr>
              <a:t> data across applications, cloud and on-prem into a single and unified controlled storage solution. Yet applies the same access control no matter where the data resides or is downloaded to allow a modern cloud-based access sharing across devices, people, and geos. This was </a:t>
            </a:r>
            <a:r>
              <a:rPr lang="en-US">
                <a:latin typeface="Montserrat"/>
                <a:ea typeface="Montserrat"/>
                <a:cs typeface="Montserrat"/>
                <a:sym typeface="Montserrat"/>
              </a:rPr>
              <a:t>especially</a:t>
            </a:r>
            <a:r>
              <a:rPr b="0" i="0" lang="en-US" sz="1400" u="none" cap="none" strike="noStrike">
                <a:solidFill>
                  <a:srgbClr val="000000"/>
                </a:solidFill>
                <a:latin typeface="Montserrat"/>
                <a:ea typeface="Montserrat"/>
                <a:cs typeface="Montserrat"/>
                <a:sym typeface="Montserrat"/>
              </a:rPr>
              <a:t> useful for insurance use ca</a:t>
            </a:r>
            <a:r>
              <a:rPr lang="en-US">
                <a:latin typeface="Montserrat"/>
                <a:ea typeface="Montserrat"/>
                <a:cs typeface="Montserrat"/>
                <a:sym typeface="Montserrat"/>
              </a:rPr>
              <a:t>ses where integrity and privacy of data and files is paramount.</a:t>
            </a:r>
            <a:endParaRPr b="0" i="0" sz="1400" u="none" cap="none" strike="noStrike">
              <a:solidFill>
                <a:srgbClr val="000000"/>
              </a:solidFill>
              <a:latin typeface="Montserrat"/>
              <a:ea typeface="Montserrat"/>
              <a:cs typeface="Montserrat"/>
              <a:sym typeface="Montserrat"/>
            </a:endParaRPr>
          </a:p>
        </p:txBody>
      </p:sp>
      <p:pic>
        <p:nvPicPr>
          <p:cNvPr id="103" name="Google Shape;103;p4"/>
          <p:cNvPicPr preferRelativeResize="0"/>
          <p:nvPr/>
        </p:nvPicPr>
        <p:blipFill rotWithShape="1">
          <a:blip r:embed="rId4">
            <a:alphaModFix/>
          </a:blip>
          <a:srcRect b="18447" l="24112" r="23265" t="26359"/>
          <a:stretch/>
        </p:blipFill>
        <p:spPr>
          <a:xfrm>
            <a:off x="6864609" y="541550"/>
            <a:ext cx="5067691" cy="531518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07" name="Shape 107"/>
        <p:cNvGrpSpPr/>
        <p:nvPr/>
      </p:nvGrpSpPr>
      <p:grpSpPr>
        <a:xfrm>
          <a:off x="0" y="0"/>
          <a:ext cx="0" cy="0"/>
          <a:chOff x="0" y="0"/>
          <a:chExt cx="0" cy="0"/>
        </a:xfrm>
      </p:grpSpPr>
      <p:sp>
        <p:nvSpPr>
          <p:cNvPr id="108" name="Google Shape;108;p5"/>
          <p:cNvSpPr/>
          <p:nvPr/>
        </p:nvSpPr>
        <p:spPr>
          <a:xfrm>
            <a:off x="6093634" y="5249457"/>
            <a:ext cx="3047890" cy="3047890"/>
          </a:xfrm>
          <a:prstGeom prst="ellipse">
            <a:avLst/>
          </a:prstGeom>
          <a:solidFill>
            <a:srgbClr val="8BC53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09" name="Google Shape;109;p5"/>
          <p:cNvSpPr/>
          <p:nvPr/>
        </p:nvSpPr>
        <p:spPr>
          <a:xfrm>
            <a:off x="10026856" y="1637137"/>
            <a:ext cx="3047890" cy="3047890"/>
          </a:xfrm>
          <a:prstGeom prst="ellipse">
            <a:avLst/>
          </a:prstGeom>
          <a:solidFill>
            <a:srgbClr val="8BC53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0" name="Google Shape;110;p5"/>
          <p:cNvSpPr/>
          <p:nvPr/>
        </p:nvSpPr>
        <p:spPr>
          <a:xfrm>
            <a:off x="8305003" y="3344402"/>
            <a:ext cx="4381816" cy="4381816"/>
          </a:xfrm>
          <a:prstGeom prst="ellipse">
            <a:avLst/>
          </a:prstGeom>
          <a:gradFill>
            <a:gsLst>
              <a:gs pos="0">
                <a:srgbClr val="51AB2A"/>
              </a:gs>
              <a:gs pos="100000">
                <a:srgbClr val="203E13"/>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11" name="Google Shape;111;p5"/>
          <p:cNvSpPr/>
          <p:nvPr/>
        </p:nvSpPr>
        <p:spPr>
          <a:xfrm>
            <a:off x="1124505" y="947986"/>
            <a:ext cx="9705975" cy="588645"/>
          </a:xfrm>
          <a:custGeom>
            <a:rect b="b" l="l" r="r" t="t"/>
            <a:pathLst>
              <a:path extrusionOk="0" h="588644" w="9705975">
                <a:moveTo>
                  <a:pt x="9705594" y="0"/>
                </a:moveTo>
                <a:lnTo>
                  <a:pt x="0" y="0"/>
                </a:lnTo>
                <a:lnTo>
                  <a:pt x="0" y="588162"/>
                </a:lnTo>
                <a:lnTo>
                  <a:pt x="9705594" y="588162"/>
                </a:lnTo>
                <a:lnTo>
                  <a:pt x="9705594" y="0"/>
                </a:lnTo>
                <a:close/>
              </a:path>
            </a:pathLst>
          </a:custGeom>
          <a:solidFill>
            <a:srgbClr val="005B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5"/>
          <p:cNvSpPr/>
          <p:nvPr/>
        </p:nvSpPr>
        <p:spPr>
          <a:xfrm>
            <a:off x="1124505" y="1536187"/>
            <a:ext cx="9705975" cy="880406"/>
          </a:xfrm>
          <a:custGeom>
            <a:rect b="b" l="l" r="r" t="t"/>
            <a:pathLst>
              <a:path extrusionOk="0" h="1047114" w="9705975">
                <a:moveTo>
                  <a:pt x="9705505" y="0"/>
                </a:moveTo>
                <a:lnTo>
                  <a:pt x="2067687" y="0"/>
                </a:lnTo>
                <a:lnTo>
                  <a:pt x="0" y="0"/>
                </a:lnTo>
                <a:lnTo>
                  <a:pt x="0" y="1046822"/>
                </a:lnTo>
                <a:lnTo>
                  <a:pt x="2067598" y="1046822"/>
                </a:lnTo>
                <a:lnTo>
                  <a:pt x="9705505" y="1046822"/>
                </a:lnTo>
                <a:lnTo>
                  <a:pt x="9705505" y="0"/>
                </a:lnTo>
                <a:close/>
              </a:path>
            </a:pathLst>
          </a:custGeom>
          <a:solidFill>
            <a:srgbClr val="8BC53F">
              <a:alpha val="8000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5"/>
          <p:cNvSpPr/>
          <p:nvPr/>
        </p:nvSpPr>
        <p:spPr>
          <a:xfrm>
            <a:off x="1121802" y="2418127"/>
            <a:ext cx="9705975" cy="598810"/>
          </a:xfrm>
          <a:custGeom>
            <a:rect b="b" l="l" r="r" t="t"/>
            <a:pathLst>
              <a:path extrusionOk="0" h="1395729" w="9705975">
                <a:moveTo>
                  <a:pt x="9705505" y="0"/>
                </a:moveTo>
                <a:lnTo>
                  <a:pt x="2067687" y="0"/>
                </a:lnTo>
                <a:lnTo>
                  <a:pt x="0" y="0"/>
                </a:lnTo>
                <a:lnTo>
                  <a:pt x="0" y="1395730"/>
                </a:lnTo>
                <a:lnTo>
                  <a:pt x="2067598" y="1395730"/>
                </a:lnTo>
                <a:lnTo>
                  <a:pt x="9705505" y="1395730"/>
                </a:lnTo>
                <a:lnTo>
                  <a:pt x="9705505" y="0"/>
                </a:lnTo>
                <a:close/>
              </a:path>
            </a:pathLst>
          </a:custGeom>
          <a:solidFill>
            <a:srgbClr val="D8D8D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5"/>
          <p:cNvSpPr/>
          <p:nvPr/>
        </p:nvSpPr>
        <p:spPr>
          <a:xfrm>
            <a:off x="1118155" y="1536149"/>
            <a:ext cx="9718675" cy="0"/>
          </a:xfrm>
          <a:custGeom>
            <a:rect b="b" l="l" r="r" t="t"/>
            <a:pathLst>
              <a:path extrusionOk="0" h="120000" w="9718675">
                <a:moveTo>
                  <a:pt x="0" y="0"/>
                </a:moveTo>
                <a:lnTo>
                  <a:pt x="9718332" y="0"/>
                </a:lnTo>
              </a:path>
            </a:pathLst>
          </a:custGeom>
          <a:noFill/>
          <a:ln cap="flat" cmpd="sng" w="381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5"/>
          <p:cNvSpPr txBox="1"/>
          <p:nvPr/>
        </p:nvSpPr>
        <p:spPr>
          <a:xfrm>
            <a:off x="1355170" y="1703455"/>
            <a:ext cx="904508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262626"/>
                </a:solidFill>
                <a:latin typeface="Montserrat"/>
                <a:ea typeface="Montserrat"/>
                <a:cs typeface="Montserrat"/>
                <a:sym typeface="Montserrat"/>
              </a:rPr>
              <a:t>Unified all data sources from Server Message Block (SMB), WebDav, Network DFile System (NFS), SSH File Transfer Protocol (SFTP) support for legacy applications, and Windows servers. </a:t>
            </a:r>
            <a:endParaRPr b="0" i="0" sz="1400" u="none" cap="none" strike="noStrike">
              <a:solidFill>
                <a:srgbClr val="262626"/>
              </a:solidFill>
              <a:latin typeface="Montserrat"/>
              <a:ea typeface="Montserrat"/>
              <a:cs typeface="Montserrat"/>
              <a:sym typeface="Montserrat"/>
            </a:endParaRPr>
          </a:p>
        </p:txBody>
      </p:sp>
      <p:sp>
        <p:nvSpPr>
          <p:cNvPr id="116" name="Google Shape;116;p5"/>
          <p:cNvSpPr txBox="1"/>
          <p:nvPr/>
        </p:nvSpPr>
        <p:spPr>
          <a:xfrm>
            <a:off x="1268415" y="1077538"/>
            <a:ext cx="1942042" cy="64633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800" u="none" cap="none" strike="noStrike">
                <a:solidFill>
                  <a:schemeClr val="lt1"/>
                </a:solidFill>
                <a:latin typeface="Montserrat"/>
                <a:ea typeface="Montserrat"/>
                <a:cs typeface="Montserrat"/>
                <a:sym typeface="Montserrat"/>
              </a:rPr>
              <a:t>XBIN Features</a:t>
            </a:r>
            <a:endParaRPr b="1" i="0" sz="1800" u="none" cap="none" strike="noStrike">
              <a:solidFill>
                <a:schemeClr val="lt1"/>
              </a:solidFill>
              <a:latin typeface="Montserrat"/>
              <a:ea typeface="Montserrat"/>
              <a:cs typeface="Montserrat"/>
              <a:sym typeface="Montserrat"/>
            </a:endParaRPr>
          </a:p>
          <a:p>
            <a:pPr indent="0" lvl="0" marL="0" marR="0" rtl="0" algn="ctr">
              <a:lnSpc>
                <a:spcPct val="100000"/>
              </a:lnSpc>
              <a:spcBef>
                <a:spcPts val="0"/>
              </a:spcBef>
              <a:spcAft>
                <a:spcPts val="0"/>
              </a:spcAft>
              <a:buNone/>
            </a:pPr>
            <a:r>
              <a:t/>
            </a:r>
            <a:endParaRPr b="1" i="0" sz="1800" u="none" cap="none" strike="noStrike">
              <a:solidFill>
                <a:schemeClr val="lt1"/>
              </a:solidFill>
              <a:latin typeface="Montserrat"/>
              <a:ea typeface="Montserrat"/>
              <a:cs typeface="Montserrat"/>
              <a:sym typeface="Montserrat"/>
            </a:endParaRPr>
          </a:p>
        </p:txBody>
      </p:sp>
      <p:sp>
        <p:nvSpPr>
          <p:cNvPr id="117" name="Google Shape;117;p5"/>
          <p:cNvSpPr txBox="1"/>
          <p:nvPr/>
        </p:nvSpPr>
        <p:spPr>
          <a:xfrm>
            <a:off x="1364223" y="2543102"/>
            <a:ext cx="9045082"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262626"/>
                </a:solidFill>
                <a:latin typeface="Montserrat"/>
                <a:ea typeface="Montserrat"/>
                <a:cs typeface="Montserrat"/>
                <a:sym typeface="Montserrat"/>
              </a:rPr>
              <a:t>Integrated Dropbox, Box.com, Gdrive, OneDrive, and SharePoint</a:t>
            </a:r>
            <a:endParaRPr b="0" i="0" sz="1400" u="none" cap="none" strike="noStrike">
              <a:solidFill>
                <a:srgbClr val="262626"/>
              </a:solidFill>
              <a:latin typeface="Montserrat"/>
              <a:ea typeface="Montserrat"/>
              <a:cs typeface="Montserrat"/>
              <a:sym typeface="Montserrat"/>
            </a:endParaRPr>
          </a:p>
        </p:txBody>
      </p:sp>
      <p:sp>
        <p:nvSpPr>
          <p:cNvPr id="118" name="Google Shape;118;p5"/>
          <p:cNvSpPr/>
          <p:nvPr/>
        </p:nvSpPr>
        <p:spPr>
          <a:xfrm>
            <a:off x="1118155" y="3008974"/>
            <a:ext cx="9705975" cy="769714"/>
          </a:xfrm>
          <a:custGeom>
            <a:rect b="b" l="l" r="r" t="t"/>
            <a:pathLst>
              <a:path extrusionOk="0" h="1047114" w="9705975">
                <a:moveTo>
                  <a:pt x="9705505" y="0"/>
                </a:moveTo>
                <a:lnTo>
                  <a:pt x="2067687" y="0"/>
                </a:lnTo>
                <a:lnTo>
                  <a:pt x="0" y="0"/>
                </a:lnTo>
                <a:lnTo>
                  <a:pt x="0" y="1046822"/>
                </a:lnTo>
                <a:lnTo>
                  <a:pt x="2067598" y="1046822"/>
                </a:lnTo>
                <a:lnTo>
                  <a:pt x="9705505" y="1046822"/>
                </a:lnTo>
                <a:lnTo>
                  <a:pt x="9705505" y="0"/>
                </a:lnTo>
                <a:close/>
              </a:path>
            </a:pathLst>
          </a:custGeom>
          <a:solidFill>
            <a:srgbClr val="8BC53F">
              <a:alpha val="8000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5"/>
          <p:cNvSpPr txBox="1"/>
          <p:nvPr/>
        </p:nvSpPr>
        <p:spPr>
          <a:xfrm>
            <a:off x="1355170" y="3131270"/>
            <a:ext cx="904508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262626"/>
                </a:solidFill>
                <a:latin typeface="Montserrat"/>
                <a:ea typeface="Montserrat"/>
                <a:cs typeface="Montserrat"/>
                <a:sym typeface="Montserrat"/>
              </a:rPr>
              <a:t>Transparently integrated with Amazon S3 and Azure Storage for terabytes of data storage and objects. </a:t>
            </a:r>
            <a:endParaRPr b="0" i="0" sz="1400" u="none" cap="none" strike="noStrike">
              <a:solidFill>
                <a:srgbClr val="262626"/>
              </a:solidFill>
              <a:latin typeface="Montserrat"/>
              <a:ea typeface="Montserrat"/>
              <a:cs typeface="Montserrat"/>
              <a:sym typeface="Montserrat"/>
            </a:endParaRPr>
          </a:p>
        </p:txBody>
      </p:sp>
      <p:sp>
        <p:nvSpPr>
          <p:cNvPr id="120" name="Google Shape;120;p5"/>
          <p:cNvSpPr/>
          <p:nvPr/>
        </p:nvSpPr>
        <p:spPr>
          <a:xfrm>
            <a:off x="1114508" y="3750856"/>
            <a:ext cx="9705975" cy="598810"/>
          </a:xfrm>
          <a:custGeom>
            <a:rect b="b" l="l" r="r" t="t"/>
            <a:pathLst>
              <a:path extrusionOk="0" h="1395729" w="9705975">
                <a:moveTo>
                  <a:pt x="9705505" y="0"/>
                </a:moveTo>
                <a:lnTo>
                  <a:pt x="2067687" y="0"/>
                </a:lnTo>
                <a:lnTo>
                  <a:pt x="0" y="0"/>
                </a:lnTo>
                <a:lnTo>
                  <a:pt x="0" y="1395730"/>
                </a:lnTo>
                <a:lnTo>
                  <a:pt x="2067598" y="1395730"/>
                </a:lnTo>
                <a:lnTo>
                  <a:pt x="9705505" y="1395730"/>
                </a:lnTo>
                <a:lnTo>
                  <a:pt x="9705505" y="0"/>
                </a:lnTo>
                <a:close/>
              </a:path>
            </a:pathLst>
          </a:custGeom>
          <a:solidFill>
            <a:srgbClr val="D8D8D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5"/>
          <p:cNvSpPr txBox="1"/>
          <p:nvPr/>
        </p:nvSpPr>
        <p:spPr>
          <a:xfrm>
            <a:off x="1380474" y="3896372"/>
            <a:ext cx="7365174" cy="30777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Montserrat"/>
                <a:ea typeface="Montserrat"/>
                <a:cs typeface="Montserrat"/>
                <a:sym typeface="Montserrat"/>
              </a:rPr>
              <a:t>Integrated with NAS and Storage Area Network (SAN) for internal storage. </a:t>
            </a:r>
            <a:endParaRPr/>
          </a:p>
        </p:txBody>
      </p:sp>
      <p:sp>
        <p:nvSpPr>
          <p:cNvPr id="122" name="Google Shape;122;p5"/>
          <p:cNvSpPr/>
          <p:nvPr/>
        </p:nvSpPr>
        <p:spPr>
          <a:xfrm>
            <a:off x="1114507" y="4348353"/>
            <a:ext cx="9705975" cy="664139"/>
          </a:xfrm>
          <a:custGeom>
            <a:rect b="b" l="l" r="r" t="t"/>
            <a:pathLst>
              <a:path extrusionOk="0" h="1047114" w="9705975">
                <a:moveTo>
                  <a:pt x="9705505" y="0"/>
                </a:moveTo>
                <a:lnTo>
                  <a:pt x="2067687" y="0"/>
                </a:lnTo>
                <a:lnTo>
                  <a:pt x="0" y="0"/>
                </a:lnTo>
                <a:lnTo>
                  <a:pt x="0" y="1046822"/>
                </a:lnTo>
                <a:lnTo>
                  <a:pt x="2067598" y="1046822"/>
                </a:lnTo>
                <a:lnTo>
                  <a:pt x="9705505" y="1046822"/>
                </a:lnTo>
                <a:lnTo>
                  <a:pt x="9705505" y="0"/>
                </a:lnTo>
                <a:close/>
              </a:path>
            </a:pathLst>
          </a:custGeom>
          <a:solidFill>
            <a:srgbClr val="8BC53F">
              <a:alpha val="8000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5"/>
          <p:cNvSpPr txBox="1"/>
          <p:nvPr/>
        </p:nvSpPr>
        <p:spPr>
          <a:xfrm>
            <a:off x="1441450" y="4446024"/>
            <a:ext cx="6536700" cy="8805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600"/>
              </a:spcBef>
              <a:spcAft>
                <a:spcPts val="0"/>
              </a:spcAft>
              <a:buClr>
                <a:schemeClr val="dk1"/>
              </a:buClr>
              <a:buSzPts val="1100"/>
              <a:buFont typeface="Arial"/>
              <a:buNone/>
            </a:pPr>
            <a:r>
              <a:rPr lang="en-US">
                <a:solidFill>
                  <a:srgbClr val="444444"/>
                </a:solidFill>
                <a:latin typeface="Montserrat"/>
                <a:ea typeface="Montserrat"/>
                <a:cs typeface="Montserrat"/>
                <a:sym typeface="Montserrat"/>
              </a:rPr>
              <a:t>In-built workflow engine which can provision pre-built workflow templates, e.g. approval flows, or create custom workflows.</a:t>
            </a:r>
            <a:endParaRPr>
              <a:solidFill>
                <a:srgbClr val="444444"/>
              </a:solidFill>
              <a:latin typeface="Montserrat"/>
              <a:ea typeface="Montserrat"/>
              <a:cs typeface="Montserrat"/>
              <a:sym typeface="Montserrat"/>
            </a:endParaRPr>
          </a:p>
          <a:p>
            <a:pPr indent="0" lvl="0" marL="0" marR="0" rtl="0" algn="l">
              <a:lnSpc>
                <a:spcPct val="100000"/>
              </a:lnSpc>
              <a:spcBef>
                <a:spcPts val="600"/>
              </a:spcBef>
              <a:spcAft>
                <a:spcPts val="0"/>
              </a:spcAft>
              <a:buNone/>
            </a:pPr>
            <a:r>
              <a:t/>
            </a:r>
            <a:endParaRPr>
              <a:latin typeface="Montserrat"/>
              <a:ea typeface="Montserrat"/>
              <a:cs typeface="Montserrat"/>
              <a:sym typeface="Montserrat"/>
            </a:endParaRPr>
          </a:p>
        </p:txBody>
      </p:sp>
      <p:sp>
        <p:nvSpPr>
          <p:cNvPr id="124" name="Google Shape;124;p5"/>
          <p:cNvSpPr/>
          <p:nvPr/>
        </p:nvSpPr>
        <p:spPr>
          <a:xfrm>
            <a:off x="1114506" y="4997284"/>
            <a:ext cx="9705975" cy="912730"/>
          </a:xfrm>
          <a:custGeom>
            <a:rect b="b" l="l" r="r" t="t"/>
            <a:pathLst>
              <a:path extrusionOk="0" h="1395729" w="9705975">
                <a:moveTo>
                  <a:pt x="9705505" y="0"/>
                </a:moveTo>
                <a:lnTo>
                  <a:pt x="2067687" y="0"/>
                </a:lnTo>
                <a:lnTo>
                  <a:pt x="0" y="0"/>
                </a:lnTo>
                <a:lnTo>
                  <a:pt x="0" y="1395730"/>
                </a:lnTo>
                <a:lnTo>
                  <a:pt x="2067598" y="1395730"/>
                </a:lnTo>
                <a:lnTo>
                  <a:pt x="9705505" y="1395730"/>
                </a:lnTo>
                <a:lnTo>
                  <a:pt x="9705505" y="0"/>
                </a:lnTo>
                <a:close/>
              </a:path>
            </a:pathLst>
          </a:custGeom>
          <a:solidFill>
            <a:srgbClr val="D8D8D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5"/>
          <p:cNvSpPr txBox="1"/>
          <p:nvPr/>
        </p:nvSpPr>
        <p:spPr>
          <a:xfrm>
            <a:off x="1355169" y="5147736"/>
            <a:ext cx="9054135"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Montserrat"/>
                <a:ea typeface="Montserrat"/>
                <a:cs typeface="Montserrat"/>
                <a:sym typeface="Montserrat"/>
              </a:rPr>
              <a:t>Data controls, includes data expiry policies</a:t>
            </a:r>
            <a:r>
              <a:rPr lang="en-US">
                <a:latin typeface="Montserrat"/>
                <a:ea typeface="Montserrat"/>
                <a:cs typeface="Montserrat"/>
                <a:sym typeface="Montserrat"/>
              </a:rPr>
              <a:t> </a:t>
            </a:r>
            <a:r>
              <a:rPr b="0" i="0" lang="en-US" sz="1400" u="none" cap="none" strike="noStrike">
                <a:solidFill>
                  <a:srgbClr val="000000"/>
                </a:solidFill>
                <a:latin typeface="Montserrat"/>
                <a:ea typeface="Montserrat"/>
                <a:cs typeface="Montserrat"/>
                <a:sym typeface="Montserrat"/>
              </a:rPr>
              <a:t>for securely sharing files and data with remote employees and business Partners.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29" name="Shape 129"/>
        <p:cNvGrpSpPr/>
        <p:nvPr/>
      </p:nvGrpSpPr>
      <p:grpSpPr>
        <a:xfrm>
          <a:off x="0" y="0"/>
          <a:ext cx="0" cy="0"/>
          <a:chOff x="0" y="0"/>
          <a:chExt cx="0" cy="0"/>
        </a:xfrm>
      </p:grpSpPr>
      <p:sp>
        <p:nvSpPr>
          <p:cNvPr id="130" name="Google Shape;130;p22"/>
          <p:cNvSpPr/>
          <p:nvPr/>
        </p:nvSpPr>
        <p:spPr>
          <a:xfrm>
            <a:off x="6093634" y="5249457"/>
            <a:ext cx="3047890" cy="3047890"/>
          </a:xfrm>
          <a:prstGeom prst="ellipse">
            <a:avLst/>
          </a:prstGeom>
          <a:solidFill>
            <a:srgbClr val="8BC53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1" name="Google Shape;131;p22"/>
          <p:cNvSpPr/>
          <p:nvPr/>
        </p:nvSpPr>
        <p:spPr>
          <a:xfrm>
            <a:off x="10026856" y="1637137"/>
            <a:ext cx="3047890" cy="3047890"/>
          </a:xfrm>
          <a:prstGeom prst="ellipse">
            <a:avLst/>
          </a:prstGeom>
          <a:solidFill>
            <a:srgbClr val="8BC53F">
              <a:alpha val="80000"/>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2" name="Google Shape;132;p22"/>
          <p:cNvSpPr/>
          <p:nvPr/>
        </p:nvSpPr>
        <p:spPr>
          <a:xfrm>
            <a:off x="8305003" y="3344402"/>
            <a:ext cx="4381816" cy="4381816"/>
          </a:xfrm>
          <a:prstGeom prst="ellipse">
            <a:avLst/>
          </a:prstGeom>
          <a:gradFill>
            <a:gsLst>
              <a:gs pos="0">
                <a:srgbClr val="51AB2A"/>
              </a:gs>
              <a:gs pos="100000">
                <a:srgbClr val="203E13"/>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133" name="Google Shape;133;p22"/>
          <p:cNvSpPr/>
          <p:nvPr/>
        </p:nvSpPr>
        <p:spPr>
          <a:xfrm>
            <a:off x="1124505" y="947986"/>
            <a:ext cx="9705975" cy="588645"/>
          </a:xfrm>
          <a:custGeom>
            <a:rect b="b" l="l" r="r" t="t"/>
            <a:pathLst>
              <a:path extrusionOk="0" h="588644" w="9705975">
                <a:moveTo>
                  <a:pt x="9705594" y="0"/>
                </a:moveTo>
                <a:lnTo>
                  <a:pt x="0" y="0"/>
                </a:lnTo>
                <a:lnTo>
                  <a:pt x="0" y="588162"/>
                </a:lnTo>
                <a:lnTo>
                  <a:pt x="9705594" y="588162"/>
                </a:lnTo>
                <a:lnTo>
                  <a:pt x="9705594" y="0"/>
                </a:lnTo>
                <a:close/>
              </a:path>
            </a:pathLst>
          </a:custGeom>
          <a:solidFill>
            <a:srgbClr val="005B2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22"/>
          <p:cNvSpPr/>
          <p:nvPr/>
        </p:nvSpPr>
        <p:spPr>
          <a:xfrm>
            <a:off x="1124505" y="1536187"/>
            <a:ext cx="9705975" cy="649374"/>
          </a:xfrm>
          <a:custGeom>
            <a:rect b="b" l="l" r="r" t="t"/>
            <a:pathLst>
              <a:path extrusionOk="0" h="1047114" w="9705975">
                <a:moveTo>
                  <a:pt x="9705505" y="0"/>
                </a:moveTo>
                <a:lnTo>
                  <a:pt x="2067687" y="0"/>
                </a:lnTo>
                <a:lnTo>
                  <a:pt x="0" y="0"/>
                </a:lnTo>
                <a:lnTo>
                  <a:pt x="0" y="1046822"/>
                </a:lnTo>
                <a:lnTo>
                  <a:pt x="2067598" y="1046822"/>
                </a:lnTo>
                <a:lnTo>
                  <a:pt x="9705505" y="1046822"/>
                </a:lnTo>
                <a:lnTo>
                  <a:pt x="9705505" y="0"/>
                </a:lnTo>
                <a:close/>
              </a:path>
            </a:pathLst>
          </a:custGeom>
          <a:solidFill>
            <a:srgbClr val="8BC53F">
              <a:alpha val="8000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22"/>
          <p:cNvSpPr/>
          <p:nvPr/>
        </p:nvSpPr>
        <p:spPr>
          <a:xfrm>
            <a:off x="1121802" y="2170988"/>
            <a:ext cx="9705975" cy="845949"/>
          </a:xfrm>
          <a:custGeom>
            <a:rect b="b" l="l" r="r" t="t"/>
            <a:pathLst>
              <a:path extrusionOk="0" h="1395729" w="9705975">
                <a:moveTo>
                  <a:pt x="9705505" y="0"/>
                </a:moveTo>
                <a:lnTo>
                  <a:pt x="2067687" y="0"/>
                </a:lnTo>
                <a:lnTo>
                  <a:pt x="0" y="0"/>
                </a:lnTo>
                <a:lnTo>
                  <a:pt x="0" y="1395730"/>
                </a:lnTo>
                <a:lnTo>
                  <a:pt x="2067598" y="1395730"/>
                </a:lnTo>
                <a:lnTo>
                  <a:pt x="9705505" y="1395730"/>
                </a:lnTo>
                <a:lnTo>
                  <a:pt x="9705505" y="0"/>
                </a:lnTo>
                <a:close/>
              </a:path>
            </a:pathLst>
          </a:custGeom>
          <a:solidFill>
            <a:srgbClr val="D8D8D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p22"/>
          <p:cNvSpPr/>
          <p:nvPr/>
        </p:nvSpPr>
        <p:spPr>
          <a:xfrm>
            <a:off x="1118155" y="1536149"/>
            <a:ext cx="9718675" cy="0"/>
          </a:xfrm>
          <a:custGeom>
            <a:rect b="b" l="l" r="r" t="t"/>
            <a:pathLst>
              <a:path extrusionOk="0" h="120000" w="9718675">
                <a:moveTo>
                  <a:pt x="0" y="0"/>
                </a:moveTo>
                <a:lnTo>
                  <a:pt x="9718332" y="0"/>
                </a:lnTo>
              </a:path>
            </a:pathLst>
          </a:custGeom>
          <a:noFill/>
          <a:ln cap="flat" cmpd="sng" w="381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 name="Google Shape;137;p22"/>
          <p:cNvSpPr txBox="1"/>
          <p:nvPr/>
        </p:nvSpPr>
        <p:spPr>
          <a:xfrm>
            <a:off x="1376541" y="1703504"/>
            <a:ext cx="1068434"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400" u="none" cap="none" strike="noStrike">
                <a:solidFill>
                  <a:srgbClr val="262626"/>
                </a:solidFill>
                <a:latin typeface="Montserrat"/>
                <a:ea typeface="Montserrat"/>
                <a:cs typeface="Montserrat"/>
                <a:sym typeface="Montserrat"/>
              </a:rPr>
              <a:t>Flexibilty</a:t>
            </a:r>
            <a:endParaRPr b="1" i="0" sz="1400" u="none" cap="none" strike="noStrike">
              <a:solidFill>
                <a:srgbClr val="262626"/>
              </a:solidFill>
              <a:latin typeface="Montserrat"/>
              <a:ea typeface="Montserrat"/>
              <a:cs typeface="Montserrat"/>
              <a:sym typeface="Montserrat"/>
            </a:endParaRPr>
          </a:p>
        </p:txBody>
      </p:sp>
      <p:sp>
        <p:nvSpPr>
          <p:cNvPr id="138" name="Google Shape;138;p22"/>
          <p:cNvSpPr txBox="1"/>
          <p:nvPr/>
        </p:nvSpPr>
        <p:spPr>
          <a:xfrm>
            <a:off x="1268415" y="1077538"/>
            <a:ext cx="428900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1800" u="none" cap="none" strike="noStrike">
                <a:solidFill>
                  <a:schemeClr val="lt1"/>
                </a:solidFill>
                <a:latin typeface="Montserrat"/>
                <a:ea typeface="Montserrat"/>
                <a:cs typeface="Montserrat"/>
                <a:sym typeface="Montserrat"/>
              </a:rPr>
              <a:t>XBIN Benefits</a:t>
            </a:r>
            <a:endParaRPr b="1" i="0" sz="1800" u="none" cap="none" strike="noStrike">
              <a:solidFill>
                <a:schemeClr val="lt1"/>
              </a:solidFill>
              <a:latin typeface="Montserrat"/>
              <a:ea typeface="Montserrat"/>
              <a:cs typeface="Montserrat"/>
              <a:sym typeface="Montserrat"/>
            </a:endParaRPr>
          </a:p>
          <a:p>
            <a:pPr indent="0" lvl="0" marL="0" marR="0" rtl="0" algn="ctr">
              <a:lnSpc>
                <a:spcPct val="100000"/>
              </a:lnSpc>
              <a:spcBef>
                <a:spcPts val="0"/>
              </a:spcBef>
              <a:spcAft>
                <a:spcPts val="0"/>
              </a:spcAft>
              <a:buNone/>
            </a:pPr>
            <a:r>
              <a:t/>
            </a:r>
            <a:endParaRPr b="1" i="0" sz="1800" u="none" cap="none" strike="noStrike">
              <a:solidFill>
                <a:schemeClr val="lt1"/>
              </a:solidFill>
              <a:latin typeface="Montserrat"/>
              <a:ea typeface="Montserrat"/>
              <a:cs typeface="Montserrat"/>
              <a:sym typeface="Montserrat"/>
            </a:endParaRPr>
          </a:p>
        </p:txBody>
      </p:sp>
      <p:sp>
        <p:nvSpPr>
          <p:cNvPr id="139" name="Google Shape;139;p22"/>
          <p:cNvSpPr txBox="1"/>
          <p:nvPr/>
        </p:nvSpPr>
        <p:spPr>
          <a:xfrm>
            <a:off x="2693573" y="1723600"/>
            <a:ext cx="74340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262626"/>
                </a:solidFill>
                <a:latin typeface="Montserrat"/>
                <a:ea typeface="Montserrat"/>
                <a:cs typeface="Montserrat"/>
                <a:sym typeface="Montserrat"/>
              </a:rPr>
              <a:t>Share data across platforms, devices, and partners.</a:t>
            </a:r>
            <a:endParaRPr b="0" i="0" sz="1400" u="none" cap="none" strike="noStrike">
              <a:solidFill>
                <a:srgbClr val="262626"/>
              </a:solidFill>
              <a:latin typeface="Montserrat"/>
              <a:ea typeface="Montserrat"/>
              <a:cs typeface="Montserrat"/>
              <a:sym typeface="Montserrat"/>
            </a:endParaRPr>
          </a:p>
        </p:txBody>
      </p:sp>
      <p:sp>
        <p:nvSpPr>
          <p:cNvPr id="140" name="Google Shape;140;p22"/>
          <p:cNvSpPr/>
          <p:nvPr/>
        </p:nvSpPr>
        <p:spPr>
          <a:xfrm>
            <a:off x="1118155" y="3008974"/>
            <a:ext cx="9705975" cy="769714"/>
          </a:xfrm>
          <a:custGeom>
            <a:rect b="b" l="l" r="r" t="t"/>
            <a:pathLst>
              <a:path extrusionOk="0" h="1047114" w="9705975">
                <a:moveTo>
                  <a:pt x="9705505" y="0"/>
                </a:moveTo>
                <a:lnTo>
                  <a:pt x="2067687" y="0"/>
                </a:lnTo>
                <a:lnTo>
                  <a:pt x="0" y="0"/>
                </a:lnTo>
                <a:lnTo>
                  <a:pt x="0" y="1046822"/>
                </a:lnTo>
                <a:lnTo>
                  <a:pt x="2067598" y="1046822"/>
                </a:lnTo>
                <a:lnTo>
                  <a:pt x="9705505" y="1046822"/>
                </a:lnTo>
                <a:lnTo>
                  <a:pt x="9705505" y="0"/>
                </a:lnTo>
                <a:close/>
              </a:path>
            </a:pathLst>
          </a:custGeom>
          <a:solidFill>
            <a:srgbClr val="8BC53F">
              <a:alpha val="8000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22"/>
          <p:cNvSpPr txBox="1"/>
          <p:nvPr/>
        </p:nvSpPr>
        <p:spPr>
          <a:xfrm>
            <a:off x="2693564" y="3131270"/>
            <a:ext cx="7577153"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262626"/>
                </a:solidFill>
                <a:latin typeface="Montserrat"/>
                <a:ea typeface="Montserrat"/>
                <a:cs typeface="Montserrat"/>
                <a:sym typeface="Montserrat"/>
              </a:rPr>
              <a:t>Unifies the content into single view by integrating content storage platforms into a modern, cloud enables, content sharing platform.</a:t>
            </a:r>
            <a:endParaRPr b="0" i="0" sz="1400" u="none" cap="none" strike="noStrike">
              <a:solidFill>
                <a:srgbClr val="262626"/>
              </a:solidFill>
              <a:latin typeface="Montserrat"/>
              <a:ea typeface="Montserrat"/>
              <a:cs typeface="Montserrat"/>
              <a:sym typeface="Montserrat"/>
            </a:endParaRPr>
          </a:p>
        </p:txBody>
      </p:sp>
      <p:sp>
        <p:nvSpPr>
          <p:cNvPr id="142" name="Google Shape;142;p22"/>
          <p:cNvSpPr/>
          <p:nvPr/>
        </p:nvSpPr>
        <p:spPr>
          <a:xfrm>
            <a:off x="1114508" y="3750855"/>
            <a:ext cx="9705975" cy="769711"/>
          </a:xfrm>
          <a:custGeom>
            <a:rect b="b" l="l" r="r" t="t"/>
            <a:pathLst>
              <a:path extrusionOk="0" h="1395729" w="9705975">
                <a:moveTo>
                  <a:pt x="9705505" y="0"/>
                </a:moveTo>
                <a:lnTo>
                  <a:pt x="2067687" y="0"/>
                </a:lnTo>
                <a:lnTo>
                  <a:pt x="0" y="0"/>
                </a:lnTo>
                <a:lnTo>
                  <a:pt x="0" y="1395730"/>
                </a:lnTo>
                <a:lnTo>
                  <a:pt x="2067598" y="1395730"/>
                </a:lnTo>
                <a:lnTo>
                  <a:pt x="9705505" y="1395730"/>
                </a:lnTo>
                <a:lnTo>
                  <a:pt x="9705505" y="0"/>
                </a:lnTo>
                <a:close/>
              </a:path>
            </a:pathLst>
          </a:custGeom>
          <a:solidFill>
            <a:srgbClr val="D8D8D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22"/>
          <p:cNvSpPr txBox="1"/>
          <p:nvPr/>
        </p:nvSpPr>
        <p:spPr>
          <a:xfrm>
            <a:off x="2693564" y="3931955"/>
            <a:ext cx="7365174"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000000"/>
                </a:solidFill>
                <a:latin typeface="Montserrat"/>
                <a:ea typeface="Montserrat"/>
                <a:cs typeface="Montserrat"/>
                <a:sym typeface="Montserrat"/>
              </a:rPr>
              <a:t>Streaming I/O support and Rsync allowing data scallabilty, even if the network itself is slow</a:t>
            </a:r>
            <a:endParaRPr/>
          </a:p>
        </p:txBody>
      </p:sp>
      <p:sp>
        <p:nvSpPr>
          <p:cNvPr id="144" name="Google Shape;144;p22"/>
          <p:cNvSpPr/>
          <p:nvPr/>
        </p:nvSpPr>
        <p:spPr>
          <a:xfrm>
            <a:off x="1124505" y="4500753"/>
            <a:ext cx="9705975" cy="664139"/>
          </a:xfrm>
          <a:custGeom>
            <a:rect b="b" l="l" r="r" t="t"/>
            <a:pathLst>
              <a:path extrusionOk="0" h="1047114" w="9705975">
                <a:moveTo>
                  <a:pt x="9705505" y="0"/>
                </a:moveTo>
                <a:lnTo>
                  <a:pt x="2067687" y="0"/>
                </a:lnTo>
                <a:lnTo>
                  <a:pt x="0" y="0"/>
                </a:lnTo>
                <a:lnTo>
                  <a:pt x="0" y="1046822"/>
                </a:lnTo>
                <a:lnTo>
                  <a:pt x="2067598" y="1046822"/>
                </a:lnTo>
                <a:lnTo>
                  <a:pt x="9705505" y="1046822"/>
                </a:lnTo>
                <a:lnTo>
                  <a:pt x="9705505" y="0"/>
                </a:lnTo>
                <a:close/>
              </a:path>
            </a:pathLst>
          </a:custGeom>
          <a:solidFill>
            <a:srgbClr val="8BC53F">
              <a:alpha val="80000"/>
            </a:srgbClr>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22"/>
          <p:cNvSpPr txBox="1"/>
          <p:nvPr/>
        </p:nvSpPr>
        <p:spPr>
          <a:xfrm>
            <a:off x="2693564" y="4548149"/>
            <a:ext cx="6536700" cy="880500"/>
          </a:xfrm>
          <a:prstGeom prst="rect">
            <a:avLst/>
          </a:prstGeom>
          <a:noFill/>
          <a:ln>
            <a:noFill/>
          </a:ln>
        </p:spPr>
        <p:txBody>
          <a:bodyPr anchorCtr="0" anchor="t" bIns="45700" lIns="91425" spcFirstLastPara="1" rIns="91425" wrap="square" tIns="45700">
            <a:spAutoFit/>
          </a:bodyPr>
          <a:lstStyle/>
          <a:p>
            <a:pPr indent="0" lvl="0" marL="0" rtl="0" algn="l">
              <a:lnSpc>
                <a:spcPct val="115000"/>
              </a:lnSpc>
              <a:spcBef>
                <a:spcPts val="600"/>
              </a:spcBef>
              <a:spcAft>
                <a:spcPts val="0"/>
              </a:spcAft>
              <a:buClr>
                <a:schemeClr val="dk1"/>
              </a:buClr>
              <a:buSzPts val="1100"/>
              <a:buFont typeface="Arial"/>
              <a:buNone/>
            </a:pPr>
            <a:r>
              <a:rPr lang="en-US">
                <a:solidFill>
                  <a:schemeClr val="dk1"/>
                </a:solidFill>
                <a:latin typeface="Montserrat"/>
                <a:ea typeface="Montserrat"/>
                <a:cs typeface="Montserrat"/>
                <a:sym typeface="Montserrat"/>
              </a:rPr>
              <a:t>I</a:t>
            </a:r>
            <a:r>
              <a:rPr lang="en-US">
                <a:solidFill>
                  <a:srgbClr val="444444"/>
                </a:solidFill>
                <a:latin typeface="Montserrat"/>
                <a:ea typeface="Montserrat"/>
                <a:cs typeface="Montserrat"/>
                <a:sym typeface="Montserrat"/>
              </a:rPr>
              <a:t>n-built workflow engine which can provision pre-built workflow templates, e.g. approval flows, or create custom workflows.</a:t>
            </a:r>
            <a:endParaRPr>
              <a:solidFill>
                <a:srgbClr val="444444"/>
              </a:solidFill>
              <a:latin typeface="Montserrat"/>
              <a:ea typeface="Montserrat"/>
              <a:cs typeface="Montserrat"/>
              <a:sym typeface="Montserrat"/>
            </a:endParaRPr>
          </a:p>
          <a:p>
            <a:pPr indent="0" lvl="0" marL="0" marR="0" rtl="0" algn="l">
              <a:lnSpc>
                <a:spcPct val="100000"/>
              </a:lnSpc>
              <a:spcBef>
                <a:spcPts val="600"/>
              </a:spcBef>
              <a:spcAft>
                <a:spcPts val="0"/>
              </a:spcAft>
              <a:buNone/>
            </a:pPr>
            <a:r>
              <a:t/>
            </a:r>
            <a:endParaRPr>
              <a:latin typeface="Montserrat"/>
              <a:ea typeface="Montserrat"/>
              <a:cs typeface="Montserrat"/>
              <a:sym typeface="Montserrat"/>
            </a:endParaRPr>
          </a:p>
        </p:txBody>
      </p:sp>
      <p:sp>
        <p:nvSpPr>
          <p:cNvPr id="146" name="Google Shape;146;p22"/>
          <p:cNvSpPr/>
          <p:nvPr/>
        </p:nvSpPr>
        <p:spPr>
          <a:xfrm>
            <a:off x="1114507" y="5150551"/>
            <a:ext cx="9705975" cy="629911"/>
          </a:xfrm>
          <a:custGeom>
            <a:rect b="b" l="l" r="r" t="t"/>
            <a:pathLst>
              <a:path extrusionOk="0" h="1395729" w="9705975">
                <a:moveTo>
                  <a:pt x="9705505" y="0"/>
                </a:moveTo>
                <a:lnTo>
                  <a:pt x="2067687" y="0"/>
                </a:lnTo>
                <a:lnTo>
                  <a:pt x="0" y="0"/>
                </a:lnTo>
                <a:lnTo>
                  <a:pt x="0" y="1395730"/>
                </a:lnTo>
                <a:lnTo>
                  <a:pt x="2067598" y="1395730"/>
                </a:lnTo>
                <a:lnTo>
                  <a:pt x="9705505" y="1395730"/>
                </a:lnTo>
                <a:lnTo>
                  <a:pt x="9705505" y="0"/>
                </a:lnTo>
                <a:close/>
              </a:path>
            </a:pathLst>
          </a:custGeom>
          <a:solidFill>
            <a:srgbClr val="D8D8D8"/>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47" name="Google Shape;147;p22"/>
          <p:cNvCxnSpPr/>
          <p:nvPr/>
        </p:nvCxnSpPr>
        <p:spPr>
          <a:xfrm>
            <a:off x="2574524" y="1536149"/>
            <a:ext cx="0" cy="4373865"/>
          </a:xfrm>
          <a:prstGeom prst="straightConnector1">
            <a:avLst/>
          </a:prstGeom>
          <a:noFill/>
          <a:ln cap="flat" cmpd="sng" w="19050">
            <a:solidFill>
              <a:schemeClr val="lt1"/>
            </a:solidFill>
            <a:prstDash val="solid"/>
            <a:round/>
            <a:headEnd len="sm" w="sm" type="none"/>
            <a:tailEnd len="sm" w="sm" type="none"/>
          </a:ln>
        </p:spPr>
      </p:cxnSp>
      <p:sp>
        <p:nvSpPr>
          <p:cNvPr id="148" name="Google Shape;148;p22"/>
          <p:cNvSpPr txBox="1"/>
          <p:nvPr/>
        </p:nvSpPr>
        <p:spPr>
          <a:xfrm>
            <a:off x="1376541" y="2443379"/>
            <a:ext cx="1068434"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400" u="none" cap="none" strike="noStrike">
                <a:solidFill>
                  <a:srgbClr val="262626"/>
                </a:solidFill>
                <a:latin typeface="Montserrat"/>
                <a:ea typeface="Montserrat"/>
                <a:cs typeface="Montserrat"/>
                <a:sym typeface="Montserrat"/>
              </a:rPr>
              <a:t>Security</a:t>
            </a:r>
            <a:endParaRPr b="1" i="0" sz="1400" u="none" cap="none" strike="noStrike">
              <a:solidFill>
                <a:srgbClr val="262626"/>
              </a:solidFill>
              <a:latin typeface="Montserrat"/>
              <a:ea typeface="Montserrat"/>
              <a:cs typeface="Montserrat"/>
              <a:sym typeface="Montserrat"/>
            </a:endParaRPr>
          </a:p>
        </p:txBody>
      </p:sp>
      <p:sp>
        <p:nvSpPr>
          <p:cNvPr id="149" name="Google Shape;149;p22"/>
          <p:cNvSpPr txBox="1"/>
          <p:nvPr/>
        </p:nvSpPr>
        <p:spPr>
          <a:xfrm>
            <a:off x="2693564" y="2345269"/>
            <a:ext cx="7301409"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400" u="none" cap="none" strike="noStrike">
                <a:solidFill>
                  <a:srgbClr val="262626"/>
                </a:solidFill>
                <a:latin typeface="Montserrat"/>
                <a:ea typeface="Montserrat"/>
                <a:cs typeface="Montserrat"/>
                <a:sym typeface="Montserrat"/>
              </a:rPr>
              <a:t>Unifies Enterprise Content retention, encryption, and sharing policies no matter where the content resides.</a:t>
            </a:r>
            <a:endParaRPr b="0" i="0" sz="1400" u="none" cap="none" strike="noStrike">
              <a:solidFill>
                <a:srgbClr val="262626"/>
              </a:solidFill>
              <a:latin typeface="Montserrat"/>
              <a:ea typeface="Montserrat"/>
              <a:cs typeface="Montserrat"/>
              <a:sym typeface="Montserrat"/>
            </a:endParaRPr>
          </a:p>
        </p:txBody>
      </p:sp>
      <p:sp>
        <p:nvSpPr>
          <p:cNvPr id="150" name="Google Shape;150;p22"/>
          <p:cNvSpPr txBox="1"/>
          <p:nvPr/>
        </p:nvSpPr>
        <p:spPr>
          <a:xfrm>
            <a:off x="1376541" y="3261606"/>
            <a:ext cx="1068434"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400" u="none" cap="none" strike="noStrike">
                <a:solidFill>
                  <a:srgbClr val="262626"/>
                </a:solidFill>
                <a:latin typeface="Montserrat"/>
                <a:ea typeface="Montserrat"/>
                <a:cs typeface="Montserrat"/>
                <a:sym typeface="Montserrat"/>
              </a:rPr>
              <a:t>OneView</a:t>
            </a:r>
            <a:endParaRPr b="1" i="0" sz="1400" u="none" cap="none" strike="noStrike">
              <a:solidFill>
                <a:srgbClr val="262626"/>
              </a:solidFill>
              <a:latin typeface="Montserrat"/>
              <a:ea typeface="Montserrat"/>
              <a:cs typeface="Montserrat"/>
              <a:sym typeface="Montserrat"/>
            </a:endParaRPr>
          </a:p>
        </p:txBody>
      </p:sp>
      <p:sp>
        <p:nvSpPr>
          <p:cNvPr id="151" name="Google Shape;151;p22"/>
          <p:cNvSpPr txBox="1"/>
          <p:nvPr/>
        </p:nvSpPr>
        <p:spPr>
          <a:xfrm>
            <a:off x="1264601" y="3983671"/>
            <a:ext cx="1292315" cy="30777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400" u="none" cap="none" strike="noStrike">
                <a:solidFill>
                  <a:srgbClr val="262626"/>
                </a:solidFill>
                <a:latin typeface="Montserrat"/>
                <a:ea typeface="Montserrat"/>
                <a:cs typeface="Montserrat"/>
                <a:sym typeface="Montserrat"/>
              </a:rPr>
              <a:t>Scalability</a:t>
            </a:r>
            <a:endParaRPr b="1" i="0" sz="1400" u="none" cap="none" strike="noStrike">
              <a:solidFill>
                <a:srgbClr val="262626"/>
              </a:solidFill>
              <a:latin typeface="Montserrat"/>
              <a:ea typeface="Montserrat"/>
              <a:cs typeface="Montserrat"/>
              <a:sym typeface="Montserrat"/>
            </a:endParaRPr>
          </a:p>
        </p:txBody>
      </p:sp>
      <p:sp>
        <p:nvSpPr>
          <p:cNvPr id="152" name="Google Shape;152;p22"/>
          <p:cNvSpPr txBox="1"/>
          <p:nvPr/>
        </p:nvSpPr>
        <p:spPr>
          <a:xfrm>
            <a:off x="1264601" y="4721367"/>
            <a:ext cx="1292400" cy="3078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lang="en-US">
                <a:solidFill>
                  <a:srgbClr val="262626"/>
                </a:solidFill>
                <a:latin typeface="Montserrat"/>
                <a:ea typeface="Montserrat"/>
                <a:cs typeface="Montserrat"/>
                <a:sym typeface="Montserrat"/>
              </a:rPr>
              <a:t>Workflows</a:t>
            </a:r>
            <a:r>
              <a:rPr b="1" i="0" lang="en-US" u="none" cap="none" strike="noStrike">
                <a:solidFill>
                  <a:srgbClr val="262626"/>
                </a:solidFill>
                <a:latin typeface="Montserrat"/>
                <a:ea typeface="Montserrat"/>
                <a:cs typeface="Montserrat"/>
                <a:sym typeface="Montserrat"/>
              </a:rPr>
              <a:t> </a:t>
            </a:r>
            <a:endParaRPr b="1" i="0" u="none" cap="none" strike="noStrike">
              <a:solidFill>
                <a:srgbClr val="262626"/>
              </a:solidFill>
              <a:latin typeface="Montserrat"/>
              <a:ea typeface="Montserrat"/>
              <a:cs typeface="Montserrat"/>
              <a:sym typeface="Montserrat"/>
            </a:endParaRPr>
          </a:p>
        </p:txBody>
      </p:sp>
      <p:sp>
        <p:nvSpPr>
          <p:cNvPr id="153" name="Google Shape;153;p22"/>
          <p:cNvSpPr txBox="1"/>
          <p:nvPr/>
        </p:nvSpPr>
        <p:spPr>
          <a:xfrm>
            <a:off x="2693564" y="5202690"/>
            <a:ext cx="6536602" cy="5232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lang="en-US">
                <a:latin typeface="Montserrat"/>
                <a:ea typeface="Montserrat"/>
                <a:cs typeface="Montserrat"/>
                <a:sym typeface="Montserrat"/>
              </a:rPr>
              <a:t>Application</a:t>
            </a:r>
            <a:r>
              <a:rPr b="0" i="0" lang="en-US" sz="1400" u="none" cap="none" strike="noStrike">
                <a:solidFill>
                  <a:srgbClr val="000000"/>
                </a:solidFill>
                <a:latin typeface="Montserrat"/>
                <a:ea typeface="Montserrat"/>
                <a:cs typeface="Montserrat"/>
                <a:sym typeface="Montserrat"/>
              </a:rPr>
              <a:t>, encryption, and virus definition policies no matter where the content resides, or where it is shared or downloaded to. </a:t>
            </a:r>
            <a:endParaRPr/>
          </a:p>
        </p:txBody>
      </p:sp>
      <p:sp>
        <p:nvSpPr>
          <p:cNvPr id="154" name="Google Shape;154;p22"/>
          <p:cNvSpPr txBox="1"/>
          <p:nvPr/>
        </p:nvSpPr>
        <p:spPr>
          <a:xfrm>
            <a:off x="1240365" y="5231642"/>
            <a:ext cx="1292315" cy="46166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1" i="0" lang="en-US" sz="1200" u="none" cap="none" strike="noStrike">
                <a:solidFill>
                  <a:srgbClr val="262626"/>
                </a:solidFill>
                <a:latin typeface="Montserrat"/>
                <a:ea typeface="Montserrat"/>
                <a:cs typeface="Montserrat"/>
                <a:sym typeface="Montserrat"/>
              </a:rPr>
              <a:t>Data Loss Prevention</a:t>
            </a:r>
            <a:endParaRPr b="1" i="0" sz="1200" u="none" cap="none" strike="noStrike">
              <a:solidFill>
                <a:srgbClr val="262626"/>
              </a:solidFill>
              <a:latin typeface="Montserrat"/>
              <a:ea typeface="Montserrat"/>
              <a:cs typeface="Montserrat"/>
              <a:sym typeface="Montserra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158" name="Shape 158"/>
        <p:cNvGrpSpPr/>
        <p:nvPr/>
      </p:nvGrpSpPr>
      <p:grpSpPr>
        <a:xfrm>
          <a:off x="0" y="0"/>
          <a:ext cx="0" cy="0"/>
          <a:chOff x="0" y="0"/>
          <a:chExt cx="0" cy="0"/>
        </a:xfrm>
      </p:grpSpPr>
      <p:sp>
        <p:nvSpPr>
          <p:cNvPr id="159" name="Google Shape;159;p10"/>
          <p:cNvSpPr/>
          <p:nvPr/>
        </p:nvSpPr>
        <p:spPr>
          <a:xfrm>
            <a:off x="-2" y="0"/>
            <a:ext cx="12192000" cy="350658"/>
          </a:xfrm>
          <a:prstGeom prst="rect">
            <a:avLst/>
          </a:prstGeom>
          <a:solidFill>
            <a:srgbClr val="3876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0" name="Google Shape;160;p10"/>
          <p:cNvSpPr/>
          <p:nvPr/>
        </p:nvSpPr>
        <p:spPr>
          <a:xfrm>
            <a:off x="-3" y="6507342"/>
            <a:ext cx="12192000" cy="350658"/>
          </a:xfrm>
          <a:prstGeom prst="rect">
            <a:avLst/>
          </a:prstGeom>
          <a:solidFill>
            <a:srgbClr val="38761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161" name="Google Shape;161;p10"/>
          <p:cNvSpPr txBox="1"/>
          <p:nvPr/>
        </p:nvSpPr>
        <p:spPr>
          <a:xfrm>
            <a:off x="2685297" y="3060723"/>
            <a:ext cx="6821400" cy="1200600"/>
          </a:xfrm>
          <a:prstGeom prst="rect">
            <a:avLst/>
          </a:prstGeom>
          <a:noFill/>
          <a:ln>
            <a:noFill/>
          </a:ln>
          <a:effectLst>
            <a:outerShdw blurRad="177800" rotWithShape="0" algn="ctr" dir="5400000" dist="50800">
              <a:srgbClr val="000000">
                <a:alpha val="48235"/>
              </a:srgbClr>
            </a:outerShdw>
          </a:effectLst>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7200"/>
              <a:buFont typeface="Arial"/>
              <a:buNone/>
            </a:pPr>
            <a:r>
              <a:rPr b="0" i="0" lang="en-US" sz="7200" u="none" cap="none" strike="noStrike">
                <a:solidFill>
                  <a:srgbClr val="38761D"/>
                </a:solidFill>
                <a:latin typeface="Montserrat Black"/>
                <a:ea typeface="Montserrat Black"/>
                <a:cs typeface="Montserrat Black"/>
                <a:sym typeface="Montserrat Black"/>
              </a:rPr>
              <a:t>Thank you!</a:t>
            </a:r>
            <a:endParaRPr b="0" i="0" sz="7200" u="none" cap="none" strike="noStrike">
              <a:solidFill>
                <a:srgbClr val="38761D"/>
              </a:solidFill>
              <a:latin typeface="Montserrat Black"/>
              <a:ea typeface="Montserrat Black"/>
              <a:cs typeface="Montserrat Black"/>
              <a:sym typeface="Montserrat Black"/>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2023-01-23T01:40:51Z</dcterms:created>
  <dc:creator>Dante Caranto</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2021-04-04T00:00:00Z</vt:filetime>
  </property>
  <property fmtid="{D5CDD505-2E9C-101B-9397-08002B2CF9AE}" pid="3" name="Creator">
    <vt:lpwstr>Microsoft® PowerPoint® for Microsoft 365</vt:lpwstr>
  </property>
  <property fmtid="{D5CDD505-2E9C-101B-9397-08002B2CF9AE}" pid="4" name="LastSaved">
    <vt:filetime>2023-01-23T00:00:00Z</vt:filetime>
  </property>
  <property fmtid="{D5CDD505-2E9C-101B-9397-08002B2CF9AE}" pid="5" name="Producer">
    <vt:lpwstr>Microsoft® PowerPoint® for Microsoft 365</vt:lpwstr>
  </property>
</Properties>
</file>