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Gill Sans"/>
      <p:regular r:id="rId18"/>
      <p:bold r:id="rId19"/>
    </p:embeddedFon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RelojwJRe6ckJdMnbba1zbozf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regular.fntdata"/><Relationship Id="rId11" Type="http://schemas.openxmlformats.org/officeDocument/2006/relationships/slide" Target="slides/slide7.xml"/><Relationship Id="rId22" Type="http://schemas.openxmlformats.org/officeDocument/2006/relationships/font" Target="fonts/CenturyGothic-italic.fntdata"/><Relationship Id="rId10" Type="http://schemas.openxmlformats.org/officeDocument/2006/relationships/slide" Target="slides/slide6.xml"/><Relationship Id="rId21" Type="http://schemas.openxmlformats.org/officeDocument/2006/relationships/font" Target="fonts/CenturyGothic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CenturyGothic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GillSans-bold.fntdata"/><Relationship Id="rId6" Type="http://schemas.openxmlformats.org/officeDocument/2006/relationships/slide" Target="slides/slide2.xml"/><Relationship Id="rId18" Type="http://schemas.openxmlformats.org/officeDocument/2006/relationships/font" Target="fonts/Gill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5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fosys_2C.ai" id="33" name="Google Shape;3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4054" y="1316567"/>
            <a:ext cx="3263900" cy="130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Documents and Settings\rahul.dingal\Desktop\Infosys\version1\black and white\4.jpg" id="34" name="Google Shape;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" y="-46889"/>
            <a:ext cx="12191999" cy="638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1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9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0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4" name="Google Shape;54;p20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6" name="Google Shape;56;p20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1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3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3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8089"/>
              </a:buClr>
              <a:buSzPts val="2000"/>
              <a:buFont typeface="Gill Sans"/>
              <a:buNone/>
              <a:defRPr b="0" sz="2000">
                <a:solidFill>
                  <a:srgbClr val="6C80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" name="Google Shape;74;p23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4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82" name="Google Shape;82;p2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5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4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6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6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6" name="Google Shape;96;p26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mailto:sales@tekmonks.co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581191" y="457201"/>
            <a:ext cx="1106164" cy="58597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784419" y="457200"/>
            <a:ext cx="9961047" cy="3678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>
            <p:ph type="ctrTitle"/>
          </p:nvPr>
        </p:nvSpPr>
        <p:spPr>
          <a:xfrm>
            <a:off x="1965278" y="668740"/>
            <a:ext cx="7574507" cy="3330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ill Sans"/>
              <a:buNone/>
            </a:pPr>
            <a:r>
              <a:rPr lang="en-US" sz="6000">
                <a:solidFill>
                  <a:srgbClr val="FFFFFF"/>
                </a:solidFill>
              </a:rPr>
              <a:t>XBIN</a:t>
            </a:r>
            <a:br>
              <a:rPr lang="en-US" sz="6000">
                <a:solidFill>
                  <a:srgbClr val="FFFFFF"/>
                </a:solidFill>
              </a:rPr>
            </a:br>
            <a:r>
              <a:rPr lang="en-US" sz="6000">
                <a:solidFill>
                  <a:srgbClr val="FFFFFF"/>
                </a:solidFill>
              </a:rPr>
              <a:t>HTTPS://XBIN.APP</a:t>
            </a:r>
            <a:endParaRPr sz="6000">
              <a:solidFill>
                <a:srgbClr val="FFFFFF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1784352" y="4244454"/>
            <a:ext cx="9961115" cy="20724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1965278" y="4462818"/>
            <a:ext cx="7574507" cy="1640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44"/>
              <a:buNone/>
            </a:pPr>
            <a:r>
              <a:rPr lang="en-US" sz="3200">
                <a:solidFill>
                  <a:srgbClr val="FFFFFF"/>
                </a:solidFill>
              </a:rPr>
              <a:t>ENTERPRISE CONTENT PLATFORM: SHARING AND MANAGEMENT </a:t>
            </a:r>
            <a:endParaRPr sz="3200">
              <a:solidFill>
                <a:srgbClr val="FFFFFF"/>
              </a:solidFill>
            </a:endParaRPr>
          </a:p>
        </p:txBody>
      </p:sp>
      <p:pic>
        <p:nvPicPr>
          <p:cNvPr id="110" name="Google Shape;11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9307" y="265722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8" name="Google Shape;118;p2"/>
          <p:cNvSpPr txBox="1"/>
          <p:nvPr>
            <p:ph type="title"/>
          </p:nvPr>
        </p:nvSpPr>
        <p:spPr>
          <a:xfrm>
            <a:off x="959157" y="1113764"/>
            <a:ext cx="3269749" cy="4624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r>
              <a:rPr lang="en-US" sz="3200">
                <a:solidFill>
                  <a:srgbClr val="FFFFFF"/>
                </a:solidFill>
              </a:rPr>
              <a:t>CONTENTS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5155905" y="1113764"/>
            <a:ext cx="6108179" cy="4624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About TekMonks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The Enterprise Content Platform problem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Solution: XBin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XBin Explained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Benefits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Use Cases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ill Sans"/>
              <a:buNone/>
            </a:pPr>
            <a:r>
              <a:rPr lang="en-US">
                <a:solidFill>
                  <a:srgbClr val="FFFFFF"/>
                </a:solidFill>
              </a:rPr>
              <a:t>ABOUT TEKMONKS</a:t>
            </a:r>
            <a:endParaRPr/>
          </a:p>
        </p:txBody>
      </p:sp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581192" y="2180496"/>
            <a:ext cx="722507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8C6"/>
              </a:buClr>
              <a:buSzPts val="1656"/>
              <a:buChar char="◼"/>
            </a:pPr>
            <a:r>
              <a:rPr lang="en-US"/>
              <a:t>A full service, fast growing, and highly skilled technology firm.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18C6"/>
              </a:buClr>
              <a:buSzPts val="1656"/>
              <a:buChar char="◼"/>
            </a:pPr>
            <a:r>
              <a:rPr lang="en-US"/>
              <a:t>US founded and headquartered in Washington DC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18C6"/>
              </a:buClr>
              <a:buSzPts val="1656"/>
              <a:buChar char="◼"/>
            </a:pPr>
            <a:r>
              <a:rPr lang="en-US"/>
              <a:t>Work with largest Fortune 500 companies worldwide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18C6"/>
              </a:buClr>
              <a:buSzPts val="1656"/>
              <a:buChar char="◼"/>
            </a:pPr>
            <a:r>
              <a:rPr lang="en-US"/>
              <a:t>Zero debt company with a de-risked operating model, maintaining  two years of operating cash reserves. 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18C6"/>
              </a:buClr>
              <a:buSzPts val="1656"/>
              <a:buChar char="◼"/>
            </a:pPr>
            <a:r>
              <a:rPr lang="en-US"/>
              <a:t>98% rate of repeat business, history of success and satisfied clients.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18C6"/>
              </a:buClr>
              <a:buSzPts val="1656"/>
              <a:buChar char="◼"/>
            </a:pPr>
            <a:r>
              <a:rPr lang="en-US"/>
              <a:t>ISO 9001:2015 QMS certified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18C6"/>
              </a:buClr>
              <a:buSzPts val="1656"/>
              <a:buChar char="◼"/>
            </a:pPr>
            <a:r>
              <a:rPr lang="en-US"/>
              <a:t>Strong partnerships with AWS, Azure, Microsoft, IBM etc.</a:t>
            </a:r>
            <a:endParaRPr/>
          </a:p>
          <a:p>
            <a:pPr indent="-200844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18C6"/>
              </a:buClr>
              <a:buSzPts val="1656"/>
              <a:buNone/>
            </a:pPr>
            <a:r>
              <a:t/>
            </a:r>
            <a:endParaRPr/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541" y="2180496"/>
            <a:ext cx="1400891" cy="140089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9267531" y="4670887"/>
            <a:ext cx="14598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Vision Statement</a:t>
            </a:r>
            <a:endParaRPr b="1" i="0" sz="1400" u="none" cap="none" strike="noStrike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9395726" y="4955515"/>
            <a:ext cx="2016706" cy="1200329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A2A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To be a reputable Global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Corporation providing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quality solutions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business issues using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technology 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highly skilled people.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/>
        </p:nvSpPr>
        <p:spPr>
          <a:xfrm>
            <a:off x="0" y="-57560"/>
            <a:ext cx="12192000" cy="96763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TekMonks Operates from 7 Countries, 8 Major Cities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4"/>
          <p:cNvGrpSpPr/>
          <p:nvPr/>
        </p:nvGrpSpPr>
        <p:grpSpPr>
          <a:xfrm>
            <a:off x="0" y="910079"/>
            <a:ext cx="11658599" cy="5837522"/>
            <a:chOff x="0" y="677578"/>
            <a:chExt cx="9015618" cy="4034865"/>
          </a:xfrm>
        </p:grpSpPr>
        <p:cxnSp>
          <p:nvCxnSpPr>
            <p:cNvPr id="136" name="Google Shape;136;p4"/>
            <p:cNvCxnSpPr/>
            <p:nvPr/>
          </p:nvCxnSpPr>
          <p:spPr>
            <a:xfrm>
              <a:off x="0" y="677578"/>
              <a:ext cx="8634413" cy="0"/>
            </a:xfrm>
            <a:prstGeom prst="straightConnector1">
              <a:avLst/>
            </a:prstGeom>
            <a:noFill/>
            <a:ln cap="flat" cmpd="sng" w="12700">
              <a:solidFill>
                <a:srgbClr val="F15A2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aphicFrame>
          <p:nvGraphicFramePr>
            <p:cNvPr id="137" name="Google Shape;137;p4"/>
            <p:cNvGraphicFramePr/>
            <p:nvPr/>
          </p:nvGraphicFramePr>
          <p:xfrm>
            <a:off x="1184743" y="837740"/>
            <a:ext cx="6774513" cy="3784935"/>
          </p:xfrm>
          <a:graphic>
            <a:graphicData uri="http://schemas.openxmlformats.org/presentationml/2006/ole">
              <mc:AlternateContent>
                <mc:Choice Requires="v">
                  <p:oleObj r:id="rId4" imgH="3784935" imgW="6774513" progId="Paint.Picture" spid="_x0000_s1">
                    <p:embed/>
                  </p:oleObj>
                </mc:Choice>
                <mc:Fallback>
                  <p:oleObj r:id="rId5" imgH="3784935" imgW="6774513" progId="Paint.Picture">
                    <p:embed/>
                    <p:pic>
                      <p:nvPicPr>
                        <p:cNvPr id="137" name="Google Shape;137;p4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1184743" y="837740"/>
                          <a:ext cx="6774513" cy="37849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" name="Google Shape;138;p4"/>
            <p:cNvSpPr/>
            <p:nvPr/>
          </p:nvSpPr>
          <p:spPr>
            <a:xfrm>
              <a:off x="651257" y="952341"/>
              <a:ext cx="1640530" cy="725987"/>
            </a:xfrm>
            <a:prstGeom prst="wedgeRectCallout">
              <a:avLst>
                <a:gd fmla="val 40120" name="adj1"/>
                <a:gd fmla="val 129204" name="adj2"/>
              </a:avLst>
            </a:prstGeom>
            <a:solidFill>
              <a:srgbClr val="D2E6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18275" spcFirstLastPara="1" rIns="1827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CANADA - TORONTO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1 Development Center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Office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651257" y="3059193"/>
              <a:ext cx="1462087" cy="838200"/>
            </a:xfrm>
            <a:prstGeom prst="wedgeRectCallout">
              <a:avLst>
                <a:gd fmla="val 60532" name="adj1"/>
                <a:gd fmla="val -108523" name="adj2"/>
              </a:avLst>
            </a:prstGeom>
            <a:solidFill>
              <a:srgbClr val="D2E6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18275" spcFirstLastPara="1" rIns="1827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USA – Chicago, DC, San Francisco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1 Development Center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Offices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7436733" y="1857063"/>
              <a:ext cx="1578885" cy="725729"/>
            </a:xfrm>
            <a:prstGeom prst="wedgeRectCallout">
              <a:avLst>
                <a:gd fmla="val -86955" name="adj1"/>
                <a:gd fmla="val 69921" name="adj2"/>
              </a:avLst>
            </a:prstGeom>
            <a:solidFill>
              <a:srgbClr val="D2E6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18275" spcFirstLastPara="1" rIns="1827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JAPAN - TOKYO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1 Development Center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Office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5518632" y="1315335"/>
              <a:ext cx="1493838" cy="945748"/>
            </a:xfrm>
            <a:prstGeom prst="wedgeRectCallout">
              <a:avLst>
                <a:gd fmla="val -35988" name="adj1"/>
                <a:gd fmla="val 127894" name="adj2"/>
              </a:avLst>
            </a:prstGeom>
            <a:solidFill>
              <a:srgbClr val="D2E6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18275" spcFirstLastPara="1" rIns="1827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INDIA – NEW DELHI, BANGALORE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3 Development Centers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Offices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2871571" y="748073"/>
              <a:ext cx="1532153" cy="838200"/>
            </a:xfrm>
            <a:prstGeom prst="wedgeRectCallout">
              <a:avLst>
                <a:gd fmla="val 42727" name="adj1"/>
                <a:gd fmla="val 138824" name="adj2"/>
              </a:avLst>
            </a:prstGeom>
            <a:solidFill>
              <a:srgbClr val="D2E6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18275" spcFirstLastPara="1" rIns="1827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Europe – U.K - LONDON</a:t>
              </a:r>
              <a:endParaRPr b="1" i="0" sz="1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1 Development Center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Office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4577004" y="3874243"/>
              <a:ext cx="1462087" cy="838200"/>
            </a:xfrm>
            <a:prstGeom prst="wedgeRectCallout">
              <a:avLst>
                <a:gd fmla="val 60532" name="adj1"/>
                <a:gd fmla="val -108523" name="adj2"/>
              </a:avLst>
            </a:prstGeom>
            <a:solidFill>
              <a:srgbClr val="D2E6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18275" spcFirstLastPara="1" rIns="1827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SINGAPORE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1 Development Center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Office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7436732" y="3757240"/>
              <a:ext cx="1578885" cy="865435"/>
            </a:xfrm>
            <a:prstGeom prst="wedgeRectCallout">
              <a:avLst>
                <a:gd fmla="val -92820" name="adj1"/>
                <a:gd fmla="val -32153" name="adj2"/>
              </a:avLst>
            </a:prstGeom>
            <a:solidFill>
              <a:srgbClr val="D2E6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18275" spcFirstLastPara="1" rIns="1827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AUSTRALIA – Sydney Opening (3Q 2020)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1 Development Center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Office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2941637" y="2919040"/>
              <a:ext cx="1462087" cy="838200"/>
            </a:xfrm>
            <a:prstGeom prst="wedgeRectCallout">
              <a:avLst>
                <a:gd fmla="val 162473" name="adj1"/>
                <a:gd fmla="val -32159" name="adj2"/>
              </a:avLst>
            </a:prstGeom>
            <a:solidFill>
              <a:srgbClr val="D2E6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18275" spcFirstLastPara="1" rIns="1827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Thailand – Bangkok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1 Development Center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Office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6" name="Google Shape;14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1100" y="825500"/>
            <a:ext cx="6769100" cy="37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5"/>
          <p:cNvSpPr txBox="1"/>
          <p:nvPr>
            <p:ph type="title"/>
          </p:nvPr>
        </p:nvSpPr>
        <p:spPr>
          <a:xfrm>
            <a:off x="860224" y="3607583"/>
            <a:ext cx="3498543" cy="248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Gill Sans"/>
              <a:buNone/>
            </a:pPr>
            <a:r>
              <a:rPr lang="en-US" sz="2880">
                <a:solidFill>
                  <a:srgbClr val="FFFFFF"/>
                </a:solidFill>
              </a:rPr>
              <a:t>ENTERPRISE CONTENT PLATFORM</a:t>
            </a: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endParaRPr sz="2880">
              <a:solidFill>
                <a:srgbClr val="FFFFFF"/>
              </a:solidFill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4956047" y="456526"/>
            <a:ext cx="6276796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Modern Enterprise Content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The modern enterprise is online, shared across geos, clouds, and hyper-connected. Content is everywhere.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4956047" y="1410633"/>
            <a:ext cx="6416803" cy="5530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6000" lvl="0" marL="30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Modern Enterprise is mobile, spread across clouds, accessible from anywhere.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Modern Enterprise is also hyper-connected, and social. With business partners,  associates, contractors, employees, spread across the globe and creating and sharing content.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Content is spread – NAS drivers, shared folders, online file storage services like Dropbox, Google drive, WebDAV, SharePoint etc.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is impossible to have a single view of content, with Enterprise controls, data leakage prevention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Compliance with standards like HIPAA, GDPR is impossible with a proper Enterprise Content Platform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9160" lvl="0" marL="30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BF6210"/>
                </a:solidFill>
                <a:latin typeface="Gill Sans"/>
                <a:ea typeface="Gill Sans"/>
                <a:cs typeface="Gill Sans"/>
                <a:sym typeface="Gill Sans"/>
              </a:rPr>
              <a:t>The future of digital content and big data requires proper Enterprise Content platform to manage content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7" name="Google Shape;1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439" y="482149"/>
            <a:ext cx="4189080" cy="2161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6"/>
          <p:cNvSpPr txBox="1"/>
          <p:nvPr>
            <p:ph type="title"/>
          </p:nvPr>
        </p:nvSpPr>
        <p:spPr>
          <a:xfrm>
            <a:off x="959157" y="1113764"/>
            <a:ext cx="3269749" cy="1958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Gill Sans"/>
              <a:buNone/>
            </a:pP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r>
              <a:rPr lang="en-US" sz="2880">
                <a:solidFill>
                  <a:srgbClr val="FFFFFF"/>
                </a:solidFill>
              </a:rPr>
              <a:t>WHY XBIN?</a:t>
            </a:r>
            <a:endParaRPr/>
          </a:p>
        </p:txBody>
      </p:sp>
      <p:sp>
        <p:nvSpPr>
          <p:cNvPr id="166" name="Google Shape;166;p6"/>
          <p:cNvSpPr txBox="1"/>
          <p:nvPr>
            <p:ph idx="1" type="body"/>
          </p:nvPr>
        </p:nvSpPr>
        <p:spPr>
          <a:xfrm>
            <a:off x="4973035" y="483612"/>
            <a:ext cx="6259808" cy="589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40"/>
              <a:buChar char="◼"/>
            </a:pPr>
            <a:r>
              <a:rPr lang="en-US" sz="2000"/>
              <a:t>Enterprises have lost control of their content – dropbox links, various drives, shared files over chats, emails, data residing on partner’s systems.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/>
              <a:t>The modern hyper-connected Enterprise can no longer track, much less control their content. 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/>
              <a:t>Audits and standards like PCI, HIPAA, GDPR require the Enterprise data to be secured, and encrypted, and yet be available instantly to the employees and applications.</a:t>
            </a:r>
            <a:endParaRPr/>
          </a:p>
          <a:p>
            <a:pPr indent="-18916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/>
          </a:p>
          <a:p>
            <a:pPr indent="-30600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/>
              <a:t>Enterprises need a solution to</a:t>
            </a:r>
            <a:endParaRPr/>
          </a:p>
          <a:p>
            <a:pPr indent="-306000" lvl="1" marL="630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sz="1800"/>
              <a:t>Unify all data sources</a:t>
            </a:r>
            <a:endParaRPr/>
          </a:p>
          <a:p>
            <a:pPr indent="-306000" lvl="1" marL="630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sz="1800"/>
              <a:t>Allow sharing of data between employees, partners, and collaborators – across devices, including social platforms</a:t>
            </a:r>
            <a:endParaRPr/>
          </a:p>
          <a:p>
            <a:pPr indent="-306000" lvl="1" marL="630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sz="1800"/>
              <a:t>Yet, apply Enterprise controls, and cloud level controls over the data</a:t>
            </a:r>
            <a:endParaRPr/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233" y="483612"/>
            <a:ext cx="4249437" cy="195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42374" y="614400"/>
            <a:ext cx="6139500" cy="561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 txBox="1"/>
          <p:nvPr>
            <p:ph type="title"/>
          </p:nvPr>
        </p:nvSpPr>
        <p:spPr>
          <a:xfrm>
            <a:off x="670662" y="2110213"/>
            <a:ext cx="3409783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</a:pPr>
            <a:br>
              <a:rPr lang="en-US" sz="2400">
                <a:solidFill>
                  <a:schemeClr val="accent2"/>
                </a:solidFill>
              </a:rPr>
            </a:br>
            <a:br>
              <a:rPr lang="en-US" sz="2400">
                <a:solidFill>
                  <a:schemeClr val="accent2"/>
                </a:solidFill>
              </a:rPr>
            </a:br>
            <a:br>
              <a:rPr lang="en-US" sz="2400">
                <a:solidFill>
                  <a:schemeClr val="accent2"/>
                </a:solidFill>
              </a:rPr>
            </a:br>
            <a:br>
              <a:rPr lang="en-US" sz="2400">
                <a:solidFill>
                  <a:schemeClr val="accent2"/>
                </a:solidFill>
              </a:rPr>
            </a:br>
            <a:r>
              <a:rPr lang="en-US" sz="2400">
                <a:solidFill>
                  <a:schemeClr val="accent2"/>
                </a:solidFill>
              </a:rPr>
              <a:t>THE SOLUTION XBIN.APP</a:t>
            </a:r>
            <a:br>
              <a:rPr lang="en-US" sz="2400">
                <a:solidFill>
                  <a:schemeClr val="accent2"/>
                </a:solidFill>
              </a:rPr>
            </a:br>
            <a:br>
              <a:rPr lang="en-US" sz="2400">
                <a:solidFill>
                  <a:schemeClr val="accent2"/>
                </a:solidFill>
              </a:rPr>
            </a:br>
            <a:br>
              <a:rPr lang="en-US" sz="1200">
                <a:solidFill>
                  <a:schemeClr val="accent2"/>
                </a:solidFill>
              </a:rPr>
            </a:br>
            <a:br>
              <a:rPr lang="en-US" sz="1200">
                <a:solidFill>
                  <a:schemeClr val="accent2"/>
                </a:solidFill>
              </a:rPr>
            </a:br>
            <a:br>
              <a:rPr lang="en-US" sz="1200">
                <a:solidFill>
                  <a:schemeClr val="accent2"/>
                </a:solidFill>
              </a:rPr>
            </a:br>
            <a:br>
              <a:rPr lang="en-US" sz="1200">
                <a:solidFill>
                  <a:schemeClr val="accent2"/>
                </a:solidFill>
              </a:rPr>
            </a:br>
            <a:br>
              <a:rPr lang="en-US" sz="1200">
                <a:solidFill>
                  <a:schemeClr val="accent2"/>
                </a:solidFill>
              </a:rPr>
            </a:br>
            <a:br>
              <a:rPr lang="en-US" sz="1200">
                <a:solidFill>
                  <a:schemeClr val="accent2"/>
                </a:solidFill>
              </a:rPr>
            </a:br>
            <a:endParaRPr sz="1200">
              <a:solidFill>
                <a:schemeClr val="accent2"/>
              </a:solidFill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rgbClr val="77AA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 txBox="1"/>
          <p:nvPr>
            <p:ph idx="1" type="body"/>
          </p:nvPr>
        </p:nvSpPr>
        <p:spPr>
          <a:xfrm>
            <a:off x="670650" y="1749025"/>
            <a:ext cx="5374200" cy="51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80"/>
              <a:buNone/>
            </a:pPr>
            <a:r>
              <a:rPr lang="en-US" sz="1500">
                <a:solidFill>
                  <a:schemeClr val="lt1"/>
                </a:solidFill>
              </a:rPr>
              <a:t>XBin is the only EC platform built ground-up to meet these requirements.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38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06000" lvl="0" marL="3060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380"/>
              <a:buChar char="◼"/>
            </a:pPr>
            <a:r>
              <a:rPr lang="en-US" sz="1500">
                <a:solidFill>
                  <a:schemeClr val="lt1"/>
                </a:solidFill>
              </a:rPr>
              <a:t>It includes “OneView” feature which combines data across applications, cloud and on-prem into a single, unified controlled storage solution, and…  </a:t>
            </a:r>
            <a:endParaRPr/>
          </a:p>
          <a:p>
            <a:pPr indent="-218370" lvl="0" marL="3060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38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06000" lvl="0" marL="3060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380"/>
              <a:buChar char="◼"/>
            </a:pPr>
            <a:r>
              <a:rPr lang="en-US" sz="1500">
                <a:solidFill>
                  <a:schemeClr val="lt1"/>
                </a:solidFill>
              </a:rPr>
              <a:t>Applies the same access controls no matter where the data resides or is downloaded to</a:t>
            </a:r>
            <a:endParaRPr/>
          </a:p>
          <a:p>
            <a:pPr indent="-218370" lvl="0" marL="3060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38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06000" lvl="0" marL="3060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380"/>
              <a:buChar char="◼"/>
            </a:pPr>
            <a:r>
              <a:rPr lang="en-US" sz="1500">
                <a:solidFill>
                  <a:schemeClr val="lt1"/>
                </a:solidFill>
              </a:rPr>
              <a:t>Allows modern cloud-based access sharing across devices, people, and geos.</a:t>
            </a:r>
            <a:endParaRPr/>
          </a:p>
          <a:p>
            <a:pPr indent="-218370" lvl="0" marL="3060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38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218370" lvl="0" marL="3060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38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218370" lvl="0" marL="3060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38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218370" lvl="0" marL="3060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38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218370" lvl="0" marL="3060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38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218370" lvl="0" marL="3060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38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6625" y="1426825"/>
            <a:ext cx="4853199" cy="355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6" name="Google Shape;186;p8"/>
          <p:cNvSpPr txBox="1"/>
          <p:nvPr>
            <p:ph type="title"/>
          </p:nvPr>
        </p:nvSpPr>
        <p:spPr>
          <a:xfrm>
            <a:off x="959157" y="1113764"/>
            <a:ext cx="3269749" cy="4624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Gill Sans"/>
              <a:buNone/>
            </a:pPr>
            <a:r>
              <a:rPr lang="en-US" sz="2880">
                <a:solidFill>
                  <a:srgbClr val="FFFFFF"/>
                </a:solidFill>
              </a:rPr>
              <a:t>THE SOLUTION MESSAGE DRIVEN API SERVICE BUS</a:t>
            </a: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endParaRPr sz="2880">
              <a:solidFill>
                <a:srgbClr val="FFFFFF"/>
              </a:solidFill>
            </a:endParaRPr>
          </a:p>
        </p:txBody>
      </p:sp>
      <p:sp>
        <p:nvSpPr>
          <p:cNvPr id="187" name="Google Shape;187;p8"/>
          <p:cNvSpPr txBox="1"/>
          <p:nvPr>
            <p:ph idx="1" type="body"/>
          </p:nvPr>
        </p:nvSpPr>
        <p:spPr>
          <a:xfrm>
            <a:off x="5082387" y="1585124"/>
            <a:ext cx="6728384" cy="6224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40"/>
              <a:buChar char="◼"/>
            </a:pPr>
            <a:r>
              <a:rPr lang="en-US" sz="2000"/>
              <a:t>Unify all data sources</a:t>
            </a:r>
            <a:endParaRPr/>
          </a:p>
          <a:p>
            <a:pPr indent="-306000" lvl="1" marL="630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sz="1800"/>
              <a:t>Windows and Mac Desktops continuous file sync</a:t>
            </a:r>
            <a:endParaRPr/>
          </a:p>
          <a:p>
            <a:pPr indent="-306000" lvl="1" marL="630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sz="1800"/>
              <a:t>SMB, WebDav, NFS, SFTP support for legacy applications, and Windows servers.</a:t>
            </a:r>
            <a:endParaRPr/>
          </a:p>
          <a:p>
            <a:pPr indent="-306000" lvl="1" marL="630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sz="1800"/>
              <a:t>Integrate Dropbox, Box.com, Gdrive, OneDrive, and SharePoint</a:t>
            </a:r>
            <a:endParaRPr/>
          </a:p>
          <a:p>
            <a:pPr indent="-306000" lvl="1" marL="630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sz="1800"/>
              <a:t>Transparent integration with Amazon S3 and Azure Storage for terabytes of data storage and objects.</a:t>
            </a:r>
            <a:endParaRPr/>
          </a:p>
          <a:p>
            <a:pPr indent="-306000" lvl="1" marL="630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sz="1800"/>
              <a:t>Integration with NAS and SAN for internal storage.</a:t>
            </a:r>
            <a:endParaRPr/>
          </a:p>
          <a:p>
            <a:pPr indent="-200844" lvl="1" marL="630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 sz="1800"/>
          </a:p>
          <a:p>
            <a:pPr indent="-30600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/>
              <a:t>Rsync based file synchronization for gigabytes of file sync in seconds.</a:t>
            </a:r>
            <a:endParaRPr/>
          </a:p>
          <a:p>
            <a:pPr indent="-18916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/>
          </a:p>
          <a:p>
            <a:pPr indent="-30600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/>
              <a:t>Data controls, including data expiry policies for securely sharing files and data with remote employees and business partners.</a:t>
            </a:r>
            <a:endParaRPr/>
          </a:p>
          <a:p>
            <a:pPr indent="-18916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/>
          </a:p>
          <a:p>
            <a:pPr indent="-18916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>
              <a:solidFill>
                <a:srgbClr val="BF6210"/>
              </a:solidFill>
            </a:endParaRPr>
          </a:p>
          <a:p>
            <a:pPr indent="-18916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>
              <a:solidFill>
                <a:srgbClr val="BF6210"/>
              </a:solidFill>
            </a:endParaRPr>
          </a:p>
          <a:p>
            <a:pPr indent="-18916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/>
          </a:p>
        </p:txBody>
      </p:sp>
      <p:sp>
        <p:nvSpPr>
          <p:cNvPr id="188" name="Google Shape;188;p8"/>
          <p:cNvSpPr/>
          <p:nvPr/>
        </p:nvSpPr>
        <p:spPr>
          <a:xfrm>
            <a:off x="4665324" y="54566"/>
            <a:ext cx="548461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8CDA7"/>
                </a:solidFill>
                <a:latin typeface="Gill Sans"/>
                <a:ea typeface="Gill Sans"/>
                <a:cs typeface="Gill Sans"/>
                <a:sym typeface="Gill Sans"/>
              </a:rPr>
              <a:t>XBin Can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8" y="281283"/>
            <a:ext cx="4826000" cy="63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7" name="Google Shape;197;p9"/>
          <p:cNvSpPr txBox="1"/>
          <p:nvPr>
            <p:ph type="title"/>
          </p:nvPr>
        </p:nvSpPr>
        <p:spPr>
          <a:xfrm>
            <a:off x="959157" y="1113764"/>
            <a:ext cx="3269749" cy="4624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Gill Sans"/>
              <a:buNone/>
            </a:pPr>
            <a:r>
              <a:rPr lang="en-US" sz="2880">
                <a:solidFill>
                  <a:srgbClr val="FFFFFF"/>
                </a:solidFill>
              </a:rPr>
              <a:t>THE SOLUTION MESSAGE DRIVEN API SERVICE BUS</a:t>
            </a: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br>
              <a:rPr lang="en-US" sz="2880">
                <a:solidFill>
                  <a:srgbClr val="FFFFFF"/>
                </a:solidFill>
              </a:rPr>
            </a:br>
            <a:endParaRPr sz="2880">
              <a:solidFill>
                <a:srgbClr val="FFFFFF"/>
              </a:solidFill>
            </a:endParaRPr>
          </a:p>
        </p:txBody>
      </p:sp>
      <p:sp>
        <p:nvSpPr>
          <p:cNvPr id="198" name="Google Shape;198;p9"/>
          <p:cNvSpPr txBox="1"/>
          <p:nvPr>
            <p:ph idx="1" type="body"/>
          </p:nvPr>
        </p:nvSpPr>
        <p:spPr>
          <a:xfrm>
            <a:off x="4973035" y="1290518"/>
            <a:ext cx="6728384" cy="6224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40"/>
              <a:buChar char="◼"/>
            </a:pPr>
            <a:r>
              <a:rPr lang="en-US" sz="2000"/>
              <a:t>Full compliance with PCI, HIPAA, GDPR and many other government regulations with AES-256 encryption</a:t>
            </a:r>
            <a:endParaRPr/>
          </a:p>
          <a:p>
            <a:pPr indent="-18916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/>
          </a:p>
          <a:p>
            <a:pPr indent="-30600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/>
              <a:t>Widest support across platforms – Windows, Mac, iPhone, iPad, Android, Linux and Chrome OS.</a:t>
            </a:r>
            <a:endParaRPr/>
          </a:p>
          <a:p>
            <a:pPr indent="-18916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/>
          </a:p>
          <a:p>
            <a:pPr indent="-30600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/>
              <a:t>Define rich access control policies - Team level access, Departmental access, User level access, Sharing policies</a:t>
            </a:r>
            <a:endParaRPr/>
          </a:p>
          <a:p>
            <a:pPr indent="-18916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/>
          </a:p>
          <a:p>
            <a:pPr indent="-30600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lang="en-US" sz="2000"/>
              <a:t>Cloud level access controls not possible with other platforms</a:t>
            </a:r>
            <a:endParaRPr/>
          </a:p>
          <a:p>
            <a:pPr indent="-306000" lvl="1" marL="630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sz="1800"/>
              <a:t>Who can upload?</a:t>
            </a:r>
            <a:endParaRPr/>
          </a:p>
          <a:p>
            <a:pPr indent="-306000" lvl="1" marL="630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sz="1800"/>
              <a:t>Who can download?</a:t>
            </a:r>
            <a:endParaRPr/>
          </a:p>
          <a:p>
            <a:pPr indent="-306000" lvl="1" marL="630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sz="1800"/>
              <a:t>Who can rename, edit, modify?</a:t>
            </a:r>
            <a:endParaRPr/>
          </a:p>
          <a:p>
            <a:pPr indent="-306000" lvl="1" marL="630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 sz="1800"/>
              <a:t>Who can view only?</a:t>
            </a:r>
            <a:endParaRPr/>
          </a:p>
          <a:p>
            <a:pPr indent="-18916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>
              <a:solidFill>
                <a:srgbClr val="BF6210"/>
              </a:solidFill>
            </a:endParaRPr>
          </a:p>
          <a:p>
            <a:pPr indent="-18916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>
              <a:solidFill>
                <a:srgbClr val="BF6210"/>
              </a:solidFill>
            </a:endParaRPr>
          </a:p>
          <a:p>
            <a:pPr indent="-189160" lvl="0" marL="30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 sz="2000"/>
          </a:p>
        </p:txBody>
      </p:sp>
      <p:sp>
        <p:nvSpPr>
          <p:cNvPr id="199" name="Google Shape;199;p9"/>
          <p:cNvSpPr/>
          <p:nvPr/>
        </p:nvSpPr>
        <p:spPr>
          <a:xfrm>
            <a:off x="4267543" y="-21557"/>
            <a:ext cx="575506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8CDA7"/>
                </a:solidFill>
                <a:latin typeface="Gill Sans"/>
                <a:ea typeface="Gill Sans"/>
                <a:cs typeface="Gill Sans"/>
                <a:sym typeface="Gill Sans"/>
              </a:rPr>
              <a:t>XBin Has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8" y="281283"/>
            <a:ext cx="4826000" cy="63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46533" y="457200"/>
            <a:ext cx="7579574" cy="643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8129871" y="453642"/>
            <a:ext cx="3615596" cy="6451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46533" y="5707627"/>
            <a:ext cx="11293913" cy="6492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599" y="1273124"/>
            <a:ext cx="4546601" cy="2690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9871" y="1222178"/>
            <a:ext cx="3579529" cy="2792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16" name="Google Shape;21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0228" y="1278614"/>
            <a:ext cx="2684922" cy="268492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0"/>
          <p:cNvSpPr/>
          <p:nvPr/>
        </p:nvSpPr>
        <p:spPr>
          <a:xfrm>
            <a:off x="740287" y="3847661"/>
            <a:ext cx="1067535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8CDA7"/>
                </a:solidFill>
                <a:latin typeface="Gill Sans"/>
                <a:ea typeface="Gill Sans"/>
                <a:cs typeface="Gill Sans"/>
                <a:sym typeface="Gill Sans"/>
              </a:rPr>
              <a:t>Provide remote access, and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8CDA7"/>
                </a:solidFill>
                <a:latin typeface="Gill Sans"/>
                <a:ea typeface="Gill Sans"/>
                <a:cs typeface="Gill Sans"/>
                <a:sym typeface="Gill Sans"/>
              </a:rPr>
              <a:t>Solve the last mile DLP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5" name="Google Shape;225;p11"/>
          <p:cNvSpPr txBox="1"/>
          <p:nvPr>
            <p:ph type="title"/>
          </p:nvPr>
        </p:nvSpPr>
        <p:spPr>
          <a:xfrm>
            <a:off x="727140" y="456526"/>
            <a:ext cx="3269749" cy="248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r>
              <a:rPr lang="en-US" sz="3200">
                <a:solidFill>
                  <a:srgbClr val="FFFFFF"/>
                </a:solidFill>
              </a:rPr>
              <a:t>ASB BENEFITS</a:t>
            </a:r>
            <a:br>
              <a:rPr lang="en-US" sz="3200">
                <a:solidFill>
                  <a:srgbClr val="FFFFFF"/>
                </a:solidFill>
              </a:rPr>
            </a:br>
            <a:br>
              <a:rPr lang="en-US" sz="3200">
                <a:solidFill>
                  <a:srgbClr val="FFFFFF"/>
                </a:solidFill>
              </a:rPr>
            </a:br>
            <a:endParaRPr sz="3200">
              <a:solidFill>
                <a:srgbClr val="FFFFFF"/>
              </a:solidFill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4886043" y="456526"/>
            <a:ext cx="6416803" cy="6007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Flexibility</a:t>
            </a:r>
            <a:r>
              <a:rPr b="0" i="0" lang="en-US" sz="1950" u="none" cap="none" strike="noStrike">
                <a:solidFill>
                  <a:srgbClr val="BF621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195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Flexibility to share data across platforms, devices and partners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Security </a:t>
            </a:r>
            <a:r>
              <a:rPr b="0" i="0" lang="en-US" sz="195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Unify Enterprise Content retention, encryption and sharing policies, no matter where the content resides.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OneView </a:t>
            </a:r>
            <a:r>
              <a:rPr b="0" i="0" lang="en-US" sz="195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Unify the view of the content, into a single view, by integrating content storage platforms into a modern, cloud enabled, content sharing platform.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Very High Scalability</a:t>
            </a:r>
            <a:r>
              <a:rPr b="0" i="0" lang="en-US" sz="195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Streaming I/O support and Rsync allow for data scalability, even if the network itself is slow.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Synchronization</a:t>
            </a:r>
            <a:r>
              <a:rPr b="0" i="0" lang="en-US" sz="195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Content is always up to date and synchronized across platforms and devices.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DLP </a:t>
            </a:r>
            <a:r>
              <a:rPr b="0" i="0" lang="en-US" sz="195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Apply Data Loss Prevention, encryption and virus definition policies no matter where the content resides, or where it is shared or downloaded 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580" y="2197579"/>
            <a:ext cx="4174743" cy="4174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 txBox="1"/>
          <p:nvPr>
            <p:ph type="title"/>
          </p:nvPr>
        </p:nvSpPr>
        <p:spPr>
          <a:xfrm>
            <a:off x="703125" y="601701"/>
            <a:ext cx="9739323" cy="1245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ill Sans"/>
              <a:buNone/>
            </a:pPr>
            <a:r>
              <a:rPr lang="en-US" sz="2700">
                <a:solidFill>
                  <a:srgbClr val="FFFFFF"/>
                </a:solidFill>
              </a:rPr>
              <a:t>NEXT STEPS</a:t>
            </a:r>
            <a:endParaRPr/>
          </a:p>
        </p:txBody>
      </p:sp>
      <p:sp>
        <p:nvSpPr>
          <p:cNvPr id="233" name="Google Shape;233;p12"/>
          <p:cNvSpPr txBox="1"/>
          <p:nvPr/>
        </p:nvSpPr>
        <p:spPr>
          <a:xfrm>
            <a:off x="445552" y="1847089"/>
            <a:ext cx="11300896" cy="457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54108" lvl="0" marL="30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09585" lvl="0" marL="6095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Gill Sans"/>
              <a:buAutoNum type="arabicPeriod"/>
            </a:pPr>
            <a:r>
              <a:rPr b="0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Ask us for a no obligation POC.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693" lvl="0" marL="6095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Gill Sans"/>
              <a:buNone/>
            </a:pPr>
            <a:r>
              <a:t/>
            </a:r>
            <a:endParaRPr b="0" i="0" sz="2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09585" lvl="0" marL="6095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Gill Sans"/>
              <a:buAutoNum type="arabicPeriod"/>
            </a:pPr>
            <a:r>
              <a:rPr b="0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Don’t build from scratch, let us help you…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693" lvl="0" marL="6095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Gill Sans"/>
              <a:buNone/>
            </a:pPr>
            <a:r>
              <a:t/>
            </a:r>
            <a:endParaRPr b="0" i="0" sz="2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09585" lvl="0" marL="609585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Gill Sans"/>
              <a:buAutoNum type="arabicPeriod"/>
            </a:pPr>
            <a:r>
              <a:rPr b="0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b="0" i="0" lang="en-US" sz="2600" u="sng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sales@tekmonks.com</a:t>
            </a:r>
            <a:r>
              <a:rPr b="0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108" lvl="0" marL="3060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rgbClr val="4D4D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108" lvl="0" marL="3060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rgbClr val="4D4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/>
          <p:nvPr>
            <p:ph idx="4294967295" type="title"/>
          </p:nvPr>
        </p:nvSpPr>
        <p:spPr>
          <a:xfrm>
            <a:off x="4080345" y="1196319"/>
            <a:ext cx="6506633" cy="13165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ill Sans"/>
              <a:buNone/>
            </a:pPr>
            <a:r>
              <a:rPr b="1" lang="en-US">
                <a:solidFill>
                  <a:schemeClr val="dk2"/>
                </a:solidFill>
              </a:rPr>
              <a:t>THANK YOU</a:t>
            </a:r>
            <a:endParaRPr/>
          </a:p>
        </p:txBody>
      </p:sp>
      <p:sp>
        <p:nvSpPr>
          <p:cNvPr id="239" name="Google Shape;239;p13"/>
          <p:cNvSpPr txBox="1"/>
          <p:nvPr/>
        </p:nvSpPr>
        <p:spPr>
          <a:xfrm>
            <a:off x="5871634" y="6447368"/>
            <a:ext cx="448733" cy="364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fld id="{00000000-1234-1234-1234-123412341234}" type="slidenum">
              <a:rPr b="0" i="0" lang="en-US" sz="933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i="0" sz="933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2020-07-16T05:10:27Z</dcterms:created>
  <dc:creator>Rohit Kapoor</dc:creator>
</cp:coreProperties>
</file>